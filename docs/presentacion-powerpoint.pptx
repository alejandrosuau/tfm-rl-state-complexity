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Saira" charset="1" panose="00000500000000000000"/>
      <p:regular r:id="rId17"/>
    </p:embeddedFont>
    <p:embeddedFont>
      <p:font typeface="Saira Light" charset="1" panose="00000400000000000000"/>
      <p:regular r:id="rId18"/>
    </p:embeddedFont>
    <p:embeddedFont>
      <p:font typeface="Saira Bold" charset="1" panose="00000800000000000000"/>
      <p:regular r:id="rId19"/>
    </p:embeddedFont>
    <p:embeddedFont>
      <p:font typeface="Pattanakarn Expanded" charset="1" panose="00000000000000000000"/>
      <p:regular r:id="rId20"/>
    </p:embeddedFont>
    <p:embeddedFont>
      <p:font typeface="DM Sans Bold" charset="1" panose="00000000000000000000"/>
      <p:regular r:id="rId22"/>
    </p:embeddedFont>
    <p:embeddedFont>
      <p:font typeface="Pattanakarn Expanded Bold" charset="1" panose="00000000000000000000"/>
      <p:regular r:id="rId23"/>
    </p:embeddedFont>
    <p:embeddedFont>
      <p:font typeface="Saira Medium" charset="1" panose="000006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El RL depende no solo del algoritmo, sino de qué ve el agente.</a:t>
            </a:r>
          </a:p>
          <a:p>
            <a:r>
              <a:rPr lang="en-US"/>
              <a:t/>
            </a:r>
          </a:p>
          <a:p>
            <a:r>
              <a:rPr lang="en-US"/>
              <a:t>Esta variable suele darse por fija → aquí se estudia explícitamente.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 comparas algoritmos “porque sí”.</a:t>
            </a:r>
          </a:p>
          <a:p>
            <a:r>
              <a:rPr lang="en-US"/>
              <a:t/>
            </a:r>
          </a:p>
          <a:p>
            <a:r>
              <a:rPr lang="en-US"/>
              <a:t>Los algoritmos son instrumentos para estudiar la observación.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Todo permanece constante salvo lo que el agente percibe.</a:t>
            </a:r>
          </a:p>
          <a:p>
            <a:r>
              <a:rPr lang="en-US"/>
              <a:t/>
            </a:r>
          </a:p>
          <a:p>
            <a:r>
              <a:rPr lang="en-US"/>
              <a:t>Uso un entorno propio porque los benchmarks no permiten controlar la observación.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 aumento complejidad “a lo bruto”.</a:t>
            </a:r>
          </a:p>
          <a:p>
            <a:r>
              <a:rPr lang="en-US"/>
              <a:t/>
            </a:r>
          </a:p>
          <a:p>
            <a:r>
              <a:rPr lang="en-US"/>
              <a:t>Añado información semántica y estructurada.</a:t>
            </a:r>
          </a:p>
          <a:p>
            <a:r>
              <a:rPr lang="en-US"/>
              <a:t/>
            </a:r>
          </a:p>
          <a:p>
            <a:r>
              <a:rPr lang="en-US"/>
              <a:t>La dimensionalidad crece, pero de forma controlada.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Los algoritmos no se explican porque no son el foco.</a:t>
            </a:r>
          </a:p>
          <a:p>
            <a:r>
              <a:rPr lang="en-US"/>
              <a:t/>
            </a:r>
          </a:p>
          <a:p>
            <a:r>
              <a:rPr lang="en-US"/>
              <a:t>Se usan como representantes de distintas familias de RL.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 hay algoritmo dominante.</a:t>
            </a:r>
          </a:p>
          <a:p>
            <a:r>
              <a:rPr lang="en-US"/>
              <a:t/>
            </a:r>
          </a:p>
          <a:p>
            <a:r>
              <a:rPr lang="en-US"/>
              <a:t>El beneficio de más información depende del método.</a:t>
            </a:r>
          </a:p>
          <a:p>
            <a:r>
              <a:rPr lang="en-US"/>
              <a:t/>
            </a:r>
          </a:p>
          <a:p>
            <a:r>
              <a:rPr lang="en-US"/>
              <a:t>Aparece ruido y variabilidad con estados complejos.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 resolver el entorno no es un fallo.</a:t>
            </a:r>
          </a:p>
          <a:p>
            <a:r>
              <a:rPr lang="en-US"/>
              <a:t/>
            </a:r>
          </a:p>
          <a:p>
            <a:r>
              <a:rPr lang="en-US"/>
              <a:t>Indica límites reales del RL cuando:</a:t>
            </a:r>
          </a:p>
          <a:p>
            <a:r>
              <a:rPr lang="en-US"/>
              <a:t/>
            </a:r>
          </a:p>
          <a:p>
            <a:r>
              <a:rPr lang="en-US"/>
              <a:t>el estado no es óptimo</a:t>
            </a:r>
          </a:p>
          <a:p>
            <a:r>
              <a:rPr lang="en-US"/>
              <a:t/>
            </a:r>
          </a:p>
          <a:p>
            <a:r>
              <a:rPr lang="en-US"/>
              <a:t>la planificación a largo plazo es difícil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El trabajo confirma experimentalmente algo que muchas veces se asume.</a:t>
            </a:r>
          </a:p>
          <a:p>
            <a:r>
              <a:rPr lang="en-US"/>
              <a:t/>
            </a:r>
          </a:p>
          <a:p>
            <a:r>
              <a:rPr lang="en-US"/>
              <a:t>El diseño del estado es tan importante como el algoritmo.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5074" y="9125240"/>
            <a:ext cx="2921120" cy="644655"/>
            <a:chOff x="0" y="0"/>
            <a:chExt cx="769348" cy="1697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9348" cy="169786"/>
            </a:xfrm>
            <a:custGeom>
              <a:avLst/>
              <a:gdLst/>
              <a:ahLst/>
              <a:cxnLst/>
              <a:rect r="r" b="b" t="t" l="l"/>
              <a:pathLst>
                <a:path h="169786" w="769348">
                  <a:moveTo>
                    <a:pt x="84893" y="0"/>
                  </a:moveTo>
                  <a:lnTo>
                    <a:pt x="684456" y="0"/>
                  </a:lnTo>
                  <a:cubicBezTo>
                    <a:pt x="731341" y="0"/>
                    <a:pt x="769348" y="38008"/>
                    <a:pt x="769348" y="84893"/>
                  </a:cubicBezTo>
                  <a:lnTo>
                    <a:pt x="769348" y="84893"/>
                  </a:lnTo>
                  <a:cubicBezTo>
                    <a:pt x="769348" y="107408"/>
                    <a:pt x="760404" y="129001"/>
                    <a:pt x="744484" y="144921"/>
                  </a:cubicBezTo>
                  <a:cubicBezTo>
                    <a:pt x="728563" y="160842"/>
                    <a:pt x="706971" y="169786"/>
                    <a:pt x="684456" y="169786"/>
                  </a:cubicBezTo>
                  <a:lnTo>
                    <a:pt x="84893" y="169786"/>
                  </a:lnTo>
                  <a:cubicBezTo>
                    <a:pt x="38008" y="169786"/>
                    <a:pt x="0" y="131778"/>
                    <a:pt x="0" y="84893"/>
                  </a:cubicBezTo>
                  <a:lnTo>
                    <a:pt x="0" y="84893"/>
                  </a:lnTo>
                  <a:cubicBezTo>
                    <a:pt x="0" y="38008"/>
                    <a:pt x="38008" y="0"/>
                    <a:pt x="8489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72DCE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769348" cy="2174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559"/>
                </a:lnSpc>
                <a:spcBef>
                  <a:spcPct val="0"/>
                </a:spcBef>
              </a:pPr>
              <a:r>
                <a:rPr lang="en-US" sz="2542" spc="106" strike="noStrike" u="none">
                  <a:solidFill>
                    <a:srgbClr val="71DDEB"/>
                  </a:solidFill>
                  <a:latin typeface="Saira"/>
                  <a:ea typeface="Saira"/>
                  <a:cs typeface="Saira"/>
                  <a:sym typeface="Saira"/>
                </a:rPr>
                <a:t>www.uoc.edu</a:t>
              </a: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22318" y="3209618"/>
            <a:ext cx="1056599" cy="1113077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15494763" y="3967410"/>
            <a:ext cx="4505639" cy="4276261"/>
          </a:xfrm>
          <a:custGeom>
            <a:avLst/>
            <a:gdLst/>
            <a:ahLst/>
            <a:cxnLst/>
            <a:rect r="r" b="b" t="t" l="l"/>
            <a:pathLst>
              <a:path h="4276261" w="4505639">
                <a:moveTo>
                  <a:pt x="0" y="0"/>
                </a:moveTo>
                <a:lnTo>
                  <a:pt x="4505639" y="0"/>
                </a:lnTo>
                <a:lnTo>
                  <a:pt x="4505639" y="4276261"/>
                </a:lnTo>
                <a:lnTo>
                  <a:pt x="0" y="4276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33610" y="7746919"/>
            <a:ext cx="7091470" cy="496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9"/>
              </a:lnSpc>
            </a:pPr>
            <a:r>
              <a:rPr lang="en-US" sz="2942" spc="123">
                <a:solidFill>
                  <a:srgbClr val="71DDEB"/>
                </a:solidFill>
                <a:latin typeface="Saira"/>
                <a:ea typeface="Saira"/>
                <a:cs typeface="Saira"/>
                <a:sym typeface="Saira"/>
              </a:rPr>
              <a:t>TFM - Máster de Data Science - UOC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3610" y="8300977"/>
            <a:ext cx="5605166" cy="496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9"/>
              </a:lnSpc>
            </a:pPr>
            <a:r>
              <a:rPr lang="en-US" sz="2942" spc="123">
                <a:solidFill>
                  <a:srgbClr val="71DDEB"/>
                </a:solidFill>
                <a:latin typeface="Saira"/>
                <a:ea typeface="Saira"/>
                <a:cs typeface="Saira"/>
                <a:sym typeface="Saira"/>
              </a:rPr>
              <a:t>Alejandro Suau Ruiz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8502" y="4862346"/>
            <a:ext cx="13382226" cy="136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64"/>
              </a:lnSpc>
            </a:pPr>
            <a:r>
              <a:rPr lang="en-US" sz="2714" spc="86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Est</a:t>
            </a:r>
            <a:r>
              <a:rPr lang="en-US" sz="2714" spc="86" strike="noStrike" u="none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e trabajo analiza cómo la complejidad de la observación afecta al rendimiento del agente, manteniendo constantes entorno, recompensas y dinámica.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64740" y="3077637"/>
            <a:ext cx="14816757" cy="1156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4"/>
              </a:lnSpc>
            </a:pPr>
          </a:p>
          <a:p>
            <a:pPr algn="l" marL="0" indent="0" lvl="0">
              <a:lnSpc>
                <a:spcPts val="3124"/>
              </a:lnSpc>
            </a:pPr>
            <a:r>
              <a:rPr lang="en-US" b="true" sz="2314" spc="74" strike="noStrike" u="none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“En Reinforced Learning, más información no siempre implica mejor aprendizaje”</a:t>
            </a:r>
          </a:p>
          <a:p>
            <a:pPr algn="l" marL="0" indent="0" lvl="0">
              <a:lnSpc>
                <a:spcPts val="312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15074" y="388811"/>
            <a:ext cx="15204109" cy="2036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0"/>
              </a:lnSpc>
              <a:spcBef>
                <a:spcPct val="0"/>
              </a:spcBef>
            </a:pPr>
            <a:r>
              <a:rPr lang="en-US" sz="3442">
                <a:solidFill>
                  <a:srgbClr val="8FE3FD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Impacto de la complejidad de las observaciones en el rendimiento de algoritmos de Aprendizaje por Refuerzo en un entorno Pacman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5400000">
            <a:off x="14752209" y="7755604"/>
            <a:ext cx="4505639" cy="4276261"/>
          </a:xfrm>
          <a:custGeom>
            <a:avLst/>
            <a:gdLst/>
            <a:ahLst/>
            <a:cxnLst/>
            <a:rect r="r" b="b" t="t" l="l"/>
            <a:pathLst>
              <a:path h="4276261" w="4505639">
                <a:moveTo>
                  <a:pt x="0" y="0"/>
                </a:moveTo>
                <a:lnTo>
                  <a:pt x="4505640" y="0"/>
                </a:lnTo>
                <a:lnTo>
                  <a:pt x="4505640" y="4276262"/>
                </a:lnTo>
                <a:lnTo>
                  <a:pt x="0" y="42762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2700000">
            <a:off x="11799727" y="7309437"/>
            <a:ext cx="4505639" cy="4276261"/>
          </a:xfrm>
          <a:custGeom>
            <a:avLst/>
            <a:gdLst/>
            <a:ahLst/>
            <a:cxnLst/>
            <a:rect r="r" b="b" t="t" l="l"/>
            <a:pathLst>
              <a:path h="4276261" w="4505639">
                <a:moveTo>
                  <a:pt x="0" y="0"/>
                </a:moveTo>
                <a:lnTo>
                  <a:pt x="4505640" y="0"/>
                </a:lnTo>
                <a:lnTo>
                  <a:pt x="4505640" y="4276261"/>
                </a:lnTo>
                <a:lnTo>
                  <a:pt x="0" y="4276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616065" y="5321139"/>
            <a:ext cx="4131517" cy="4965861"/>
          </a:xfrm>
          <a:custGeom>
            <a:avLst/>
            <a:gdLst/>
            <a:ahLst/>
            <a:cxnLst/>
            <a:rect r="r" b="b" t="t" l="l"/>
            <a:pathLst>
              <a:path h="4965861" w="4131517">
                <a:moveTo>
                  <a:pt x="0" y="0"/>
                </a:moveTo>
                <a:lnTo>
                  <a:pt x="4131518" y="0"/>
                </a:lnTo>
                <a:lnTo>
                  <a:pt x="4131518" y="4965861"/>
                </a:lnTo>
                <a:lnTo>
                  <a:pt x="0" y="49658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4306" t="0" r="-25953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400000">
            <a:off x="11425515" y="-1801796"/>
            <a:ext cx="4505639" cy="4276261"/>
          </a:xfrm>
          <a:custGeom>
            <a:avLst/>
            <a:gdLst/>
            <a:ahLst/>
            <a:cxnLst/>
            <a:rect r="r" b="b" t="t" l="l"/>
            <a:pathLst>
              <a:path h="4276261" w="4505639">
                <a:moveTo>
                  <a:pt x="0" y="0"/>
                </a:moveTo>
                <a:lnTo>
                  <a:pt x="4505639" y="0"/>
                </a:lnTo>
                <a:lnTo>
                  <a:pt x="4505639" y="4276262"/>
                </a:lnTo>
                <a:lnTo>
                  <a:pt x="0" y="42762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213709" y="-1059242"/>
            <a:ext cx="4505639" cy="4276261"/>
          </a:xfrm>
          <a:custGeom>
            <a:avLst/>
            <a:gdLst/>
            <a:ahLst/>
            <a:cxnLst/>
            <a:rect r="r" b="b" t="t" l="l"/>
            <a:pathLst>
              <a:path h="4276261" w="4505639">
                <a:moveTo>
                  <a:pt x="0" y="0"/>
                </a:moveTo>
                <a:lnTo>
                  <a:pt x="4505639" y="0"/>
                </a:lnTo>
                <a:lnTo>
                  <a:pt x="4505639" y="4276261"/>
                </a:lnTo>
                <a:lnTo>
                  <a:pt x="0" y="4276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82440" y="5673239"/>
            <a:ext cx="2791204" cy="576607"/>
            <a:chOff x="0" y="0"/>
            <a:chExt cx="537134" cy="1109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7134" cy="110961"/>
            </a:xfrm>
            <a:custGeom>
              <a:avLst/>
              <a:gdLst/>
              <a:ahLst/>
              <a:cxnLst/>
              <a:rect r="r" b="b" t="t" l="l"/>
              <a:pathLst>
                <a:path h="110961" w="537134">
                  <a:moveTo>
                    <a:pt x="55481" y="0"/>
                  </a:moveTo>
                  <a:lnTo>
                    <a:pt x="481654" y="0"/>
                  </a:lnTo>
                  <a:cubicBezTo>
                    <a:pt x="512295" y="0"/>
                    <a:pt x="537134" y="24840"/>
                    <a:pt x="537134" y="55481"/>
                  </a:cubicBezTo>
                  <a:lnTo>
                    <a:pt x="537134" y="55481"/>
                  </a:lnTo>
                  <a:cubicBezTo>
                    <a:pt x="537134" y="86122"/>
                    <a:pt x="512295" y="110961"/>
                    <a:pt x="481654" y="110961"/>
                  </a:cubicBezTo>
                  <a:lnTo>
                    <a:pt x="55481" y="110961"/>
                  </a:lnTo>
                  <a:cubicBezTo>
                    <a:pt x="24840" y="110961"/>
                    <a:pt x="0" y="86122"/>
                    <a:pt x="0" y="55481"/>
                  </a:cubicBezTo>
                  <a:lnTo>
                    <a:pt x="0" y="55481"/>
                  </a:lnTo>
                  <a:cubicBezTo>
                    <a:pt x="0" y="24840"/>
                    <a:pt x="24840" y="0"/>
                    <a:pt x="5548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2FEFE">
                    <a:alpha val="100000"/>
                  </a:srgbClr>
                </a:gs>
                <a:gs pos="100000">
                  <a:srgbClr val="3894BB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37134" cy="158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b="true" sz="2249">
                  <a:solidFill>
                    <a:srgbClr val="1C29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Observación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259426" y="149726"/>
            <a:ext cx="13652572" cy="1794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83"/>
              </a:lnSpc>
              <a:spcBef>
                <a:spcPct val="0"/>
              </a:spcBef>
            </a:pPr>
            <a:r>
              <a:rPr lang="en-US" sz="4345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¿Cómo </a:t>
            </a:r>
            <a:r>
              <a:rPr lang="en-US" sz="4345" strike="noStrike" u="none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afecta la complejidad del estado observado al rendimiento del agente?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3779" y="2983110"/>
            <a:ext cx="12202833" cy="42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5329" indent="-282665" lvl="1">
              <a:lnSpc>
                <a:spcPts val="3534"/>
              </a:lnSpc>
              <a:buFont typeface="Arial"/>
              <a:buChar char="•"/>
            </a:pPr>
            <a:r>
              <a:rPr lang="en-US" sz="2618" spc="83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El modelo del problema es </a:t>
            </a:r>
            <a:r>
              <a:rPr lang="en-US" sz="2618" spc="83" strike="noStrike" u="none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constante (mapa, reglas, recompensas).</a:t>
            </a:r>
          </a:p>
        </p:txBody>
      </p:sp>
      <p:sp>
        <p:nvSpPr>
          <p:cNvPr name="AutoShape 7" id="7"/>
          <p:cNvSpPr/>
          <p:nvPr/>
        </p:nvSpPr>
        <p:spPr>
          <a:xfrm>
            <a:off x="5112093" y="5957729"/>
            <a:ext cx="870347" cy="3814"/>
          </a:xfrm>
          <a:prstGeom prst="line">
            <a:avLst/>
          </a:prstGeom>
          <a:ln cap="rnd" w="38100">
            <a:solidFill>
              <a:srgbClr val="41B8D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7378042" y="6249846"/>
            <a:ext cx="0" cy="683505"/>
          </a:xfrm>
          <a:prstGeom prst="line">
            <a:avLst/>
          </a:prstGeom>
          <a:ln cap="rnd" w="38100">
            <a:solidFill>
              <a:srgbClr val="41B8D5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" id="9"/>
          <p:cNvGrpSpPr/>
          <p:nvPr/>
        </p:nvGrpSpPr>
        <p:grpSpPr>
          <a:xfrm rot="0">
            <a:off x="2320889" y="5665612"/>
            <a:ext cx="2791204" cy="584234"/>
            <a:chOff x="0" y="0"/>
            <a:chExt cx="537134" cy="1124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7134" cy="112429"/>
            </a:xfrm>
            <a:custGeom>
              <a:avLst/>
              <a:gdLst/>
              <a:ahLst/>
              <a:cxnLst/>
              <a:rect r="r" b="b" t="t" l="l"/>
              <a:pathLst>
                <a:path h="112429" w="537134">
                  <a:moveTo>
                    <a:pt x="56215" y="0"/>
                  </a:moveTo>
                  <a:lnTo>
                    <a:pt x="480920" y="0"/>
                  </a:lnTo>
                  <a:cubicBezTo>
                    <a:pt x="495829" y="0"/>
                    <a:pt x="510127" y="5923"/>
                    <a:pt x="520670" y="16465"/>
                  </a:cubicBezTo>
                  <a:cubicBezTo>
                    <a:pt x="531212" y="27007"/>
                    <a:pt x="537134" y="41305"/>
                    <a:pt x="537134" y="56215"/>
                  </a:cubicBezTo>
                  <a:lnTo>
                    <a:pt x="537134" y="56215"/>
                  </a:lnTo>
                  <a:cubicBezTo>
                    <a:pt x="537134" y="87261"/>
                    <a:pt x="511966" y="112429"/>
                    <a:pt x="480920" y="112429"/>
                  </a:cubicBezTo>
                  <a:lnTo>
                    <a:pt x="56215" y="112429"/>
                  </a:lnTo>
                  <a:cubicBezTo>
                    <a:pt x="25168" y="112429"/>
                    <a:pt x="0" y="87261"/>
                    <a:pt x="0" y="56215"/>
                  </a:cubicBezTo>
                  <a:lnTo>
                    <a:pt x="0" y="56215"/>
                  </a:lnTo>
                  <a:cubicBezTo>
                    <a:pt x="0" y="25168"/>
                    <a:pt x="25168" y="0"/>
                    <a:pt x="562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2FEFE">
                    <a:alpha val="100000"/>
                  </a:srgbClr>
                </a:gs>
                <a:gs pos="100000">
                  <a:srgbClr val="3894BB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537134" cy="160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b="true" sz="2249">
                  <a:solidFill>
                    <a:srgbClr val="1C29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Entorno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8773644" y="5961543"/>
            <a:ext cx="866775" cy="1907"/>
          </a:xfrm>
          <a:prstGeom prst="line">
            <a:avLst/>
          </a:prstGeom>
          <a:ln cap="rnd" w="38100">
            <a:solidFill>
              <a:srgbClr val="41B8D5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3" id="13"/>
          <p:cNvGrpSpPr/>
          <p:nvPr/>
        </p:nvGrpSpPr>
        <p:grpSpPr>
          <a:xfrm rot="0">
            <a:off x="9640419" y="5675146"/>
            <a:ext cx="2791204" cy="576607"/>
            <a:chOff x="0" y="0"/>
            <a:chExt cx="537134" cy="1109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7134" cy="110961"/>
            </a:xfrm>
            <a:custGeom>
              <a:avLst/>
              <a:gdLst/>
              <a:ahLst/>
              <a:cxnLst/>
              <a:rect r="r" b="b" t="t" l="l"/>
              <a:pathLst>
                <a:path h="110961" w="537134">
                  <a:moveTo>
                    <a:pt x="55481" y="0"/>
                  </a:moveTo>
                  <a:lnTo>
                    <a:pt x="481654" y="0"/>
                  </a:lnTo>
                  <a:cubicBezTo>
                    <a:pt x="512295" y="0"/>
                    <a:pt x="537134" y="24840"/>
                    <a:pt x="537134" y="55481"/>
                  </a:cubicBezTo>
                  <a:lnTo>
                    <a:pt x="537134" y="55481"/>
                  </a:lnTo>
                  <a:cubicBezTo>
                    <a:pt x="537134" y="86122"/>
                    <a:pt x="512295" y="110961"/>
                    <a:pt x="481654" y="110961"/>
                  </a:cubicBezTo>
                  <a:lnTo>
                    <a:pt x="55481" y="110961"/>
                  </a:lnTo>
                  <a:cubicBezTo>
                    <a:pt x="24840" y="110961"/>
                    <a:pt x="0" y="86122"/>
                    <a:pt x="0" y="55481"/>
                  </a:cubicBezTo>
                  <a:lnTo>
                    <a:pt x="0" y="55481"/>
                  </a:lnTo>
                  <a:cubicBezTo>
                    <a:pt x="0" y="24840"/>
                    <a:pt x="24840" y="0"/>
                    <a:pt x="5548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2FEFE">
                    <a:alpha val="100000"/>
                  </a:srgbClr>
                </a:gs>
                <a:gs pos="100000">
                  <a:srgbClr val="3894BB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537134" cy="158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b="true" sz="2249">
                  <a:solidFill>
                    <a:srgbClr val="1C29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Agente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175907" y="5559573"/>
            <a:ext cx="2791204" cy="796312"/>
            <a:chOff x="0" y="0"/>
            <a:chExt cx="537134" cy="15324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7134" cy="153241"/>
            </a:xfrm>
            <a:custGeom>
              <a:avLst/>
              <a:gdLst/>
              <a:ahLst/>
              <a:cxnLst/>
              <a:rect r="r" b="b" t="t" l="l"/>
              <a:pathLst>
                <a:path h="153241" w="537134">
                  <a:moveTo>
                    <a:pt x="76620" y="0"/>
                  </a:moveTo>
                  <a:lnTo>
                    <a:pt x="460514" y="0"/>
                  </a:lnTo>
                  <a:cubicBezTo>
                    <a:pt x="480835" y="0"/>
                    <a:pt x="500324" y="8072"/>
                    <a:pt x="514693" y="22442"/>
                  </a:cubicBezTo>
                  <a:cubicBezTo>
                    <a:pt x="529062" y="36811"/>
                    <a:pt x="537134" y="56299"/>
                    <a:pt x="537134" y="76620"/>
                  </a:cubicBezTo>
                  <a:lnTo>
                    <a:pt x="537134" y="76620"/>
                  </a:lnTo>
                  <a:cubicBezTo>
                    <a:pt x="537134" y="96941"/>
                    <a:pt x="529062" y="116430"/>
                    <a:pt x="514693" y="130799"/>
                  </a:cubicBezTo>
                  <a:cubicBezTo>
                    <a:pt x="500324" y="145168"/>
                    <a:pt x="480835" y="153241"/>
                    <a:pt x="460514" y="153241"/>
                  </a:cubicBezTo>
                  <a:lnTo>
                    <a:pt x="76620" y="153241"/>
                  </a:lnTo>
                  <a:cubicBezTo>
                    <a:pt x="56299" y="153241"/>
                    <a:pt x="36811" y="145168"/>
                    <a:pt x="22442" y="130799"/>
                  </a:cubicBezTo>
                  <a:cubicBezTo>
                    <a:pt x="8072" y="116430"/>
                    <a:pt x="0" y="96941"/>
                    <a:pt x="0" y="76620"/>
                  </a:cubicBezTo>
                  <a:lnTo>
                    <a:pt x="0" y="76620"/>
                  </a:lnTo>
                  <a:cubicBezTo>
                    <a:pt x="0" y="56299"/>
                    <a:pt x="8072" y="36811"/>
                    <a:pt x="22442" y="22442"/>
                  </a:cubicBezTo>
                  <a:cubicBezTo>
                    <a:pt x="36811" y="8072"/>
                    <a:pt x="56299" y="0"/>
                    <a:pt x="7662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2FEFE">
                    <a:alpha val="100000"/>
                  </a:srgbClr>
                </a:gs>
                <a:gs pos="100000">
                  <a:srgbClr val="3894BB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537134" cy="200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b="true" sz="2249">
                  <a:solidFill>
                    <a:srgbClr val="1C29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Acción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2431623" y="5957729"/>
            <a:ext cx="744283" cy="5721"/>
          </a:xfrm>
          <a:prstGeom prst="line">
            <a:avLst/>
          </a:prstGeom>
          <a:ln cap="rnd" w="38100">
            <a:solidFill>
              <a:srgbClr val="41B8D5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0" id="20"/>
          <p:cNvGrpSpPr/>
          <p:nvPr/>
        </p:nvGrpSpPr>
        <p:grpSpPr>
          <a:xfrm rot="0">
            <a:off x="6081893" y="6933351"/>
            <a:ext cx="2592298" cy="259229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2FEFE">
                    <a:alpha val="100000"/>
                  </a:srgbClr>
                </a:gs>
                <a:gs pos="100000">
                  <a:srgbClr val="3894BB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237364" y="7698514"/>
            <a:ext cx="2281356" cy="99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90"/>
              </a:lnSpc>
            </a:pPr>
            <a:r>
              <a:rPr lang="en-US" b="true" sz="2664">
                <a:solidFill>
                  <a:srgbClr val="0A1944"/>
                </a:solidFill>
                <a:latin typeface="Pattanakarn Expanded Bold"/>
                <a:ea typeface="Pattanakarn Expanded Bold"/>
                <a:cs typeface="Pattanakarn Expanded Bold"/>
                <a:sym typeface="Pattanakarn Expanded Bold"/>
              </a:rPr>
              <a:t>Variable de estudio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63779" y="3724185"/>
            <a:ext cx="6445727" cy="42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5329" indent="-282665" lvl="1">
              <a:lnSpc>
                <a:spcPts val="3534"/>
              </a:lnSpc>
              <a:buFont typeface="Arial"/>
              <a:buChar char="•"/>
            </a:pPr>
            <a:r>
              <a:rPr lang="en-US" sz="2618" spc="83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Solo cambian las observaciones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31040" y="2347955"/>
            <a:ext cx="5461644" cy="6149457"/>
            <a:chOff x="0" y="0"/>
            <a:chExt cx="1438458" cy="1619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8458" cy="1619610"/>
            </a:xfrm>
            <a:custGeom>
              <a:avLst/>
              <a:gdLst/>
              <a:ahLst/>
              <a:cxnLst/>
              <a:rect r="r" b="b" t="t" l="l"/>
              <a:pathLst>
                <a:path h="1619610" w="1438458">
                  <a:moveTo>
                    <a:pt x="0" y="0"/>
                  </a:moveTo>
                  <a:lnTo>
                    <a:pt x="1438458" y="0"/>
                  </a:lnTo>
                  <a:lnTo>
                    <a:pt x="1438458" y="1619610"/>
                  </a:lnTo>
                  <a:lnTo>
                    <a:pt x="0" y="1619610"/>
                  </a:lnTo>
                  <a:close/>
                </a:path>
              </a:pathLst>
            </a:custGeom>
            <a:gradFill rotWithShape="true">
              <a:gsLst>
                <a:gs pos="0">
                  <a:srgbClr val="000102">
                    <a:alpha val="63000"/>
                  </a:srgbClr>
                </a:gs>
                <a:gs pos="100000">
                  <a:srgbClr val="000000">
                    <a:alpha val="590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92FEFE">
                      <a:alpha val="100000"/>
                    </a:srgbClr>
                  </a:gs>
                  <a:gs pos="100000">
                    <a:srgbClr val="3894BB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38458" cy="1667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84328" y="2601504"/>
            <a:ext cx="4955068" cy="5623309"/>
          </a:xfrm>
          <a:custGeom>
            <a:avLst/>
            <a:gdLst/>
            <a:ahLst/>
            <a:cxnLst/>
            <a:rect r="r" b="b" t="t" l="l"/>
            <a:pathLst>
              <a:path h="5623309" w="4955068">
                <a:moveTo>
                  <a:pt x="0" y="0"/>
                </a:moveTo>
                <a:lnTo>
                  <a:pt x="4955068" y="0"/>
                </a:lnTo>
                <a:lnTo>
                  <a:pt x="4955068" y="5623309"/>
                </a:lnTo>
                <a:lnTo>
                  <a:pt x="0" y="56233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48108" y="4690567"/>
            <a:ext cx="3640628" cy="582307"/>
            <a:chOff x="0" y="0"/>
            <a:chExt cx="741799" cy="1186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1799" cy="118648"/>
            </a:xfrm>
            <a:custGeom>
              <a:avLst/>
              <a:gdLst/>
              <a:ahLst/>
              <a:cxnLst/>
              <a:rect r="r" b="b" t="t" l="l"/>
              <a:pathLst>
                <a:path h="118648" w="741799">
                  <a:moveTo>
                    <a:pt x="14886" y="0"/>
                  </a:moveTo>
                  <a:lnTo>
                    <a:pt x="726913" y="0"/>
                  </a:lnTo>
                  <a:cubicBezTo>
                    <a:pt x="735134" y="0"/>
                    <a:pt x="741799" y="6665"/>
                    <a:pt x="741799" y="14886"/>
                  </a:cubicBezTo>
                  <a:lnTo>
                    <a:pt x="741799" y="103763"/>
                  </a:lnTo>
                  <a:cubicBezTo>
                    <a:pt x="741799" y="107711"/>
                    <a:pt x="740231" y="111497"/>
                    <a:pt x="737439" y="114288"/>
                  </a:cubicBezTo>
                  <a:cubicBezTo>
                    <a:pt x="734647" y="117080"/>
                    <a:pt x="730861" y="118648"/>
                    <a:pt x="726913" y="118648"/>
                  </a:cubicBezTo>
                  <a:lnTo>
                    <a:pt x="14886" y="118648"/>
                  </a:lnTo>
                  <a:cubicBezTo>
                    <a:pt x="6665" y="118648"/>
                    <a:pt x="0" y="111984"/>
                    <a:pt x="0" y="103763"/>
                  </a:cubicBezTo>
                  <a:lnTo>
                    <a:pt x="0" y="14886"/>
                  </a:lnTo>
                  <a:cubicBezTo>
                    <a:pt x="0" y="6665"/>
                    <a:pt x="6665" y="0"/>
                    <a:pt x="148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741799" cy="166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128"/>
                </a:lnSpc>
                <a:spcBef>
                  <a:spcPct val="0"/>
                </a:spcBef>
              </a:pPr>
              <a:r>
                <a:rPr lang="en-US" b="true" sz="2234" spc="147">
                  <a:solidFill>
                    <a:srgbClr val="181B2E"/>
                  </a:solidFill>
                  <a:latin typeface="Saira Bold"/>
                  <a:ea typeface="Saira Bold"/>
                  <a:cs typeface="Saira Bold"/>
                  <a:sym typeface="Saira Bold"/>
                </a:rPr>
                <a:t>1 Agente y 1 Enemigo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48108" y="3339273"/>
            <a:ext cx="8406627" cy="582307"/>
            <a:chOff x="0" y="0"/>
            <a:chExt cx="1712899" cy="1186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12899" cy="118648"/>
            </a:xfrm>
            <a:custGeom>
              <a:avLst/>
              <a:gdLst/>
              <a:ahLst/>
              <a:cxnLst/>
              <a:rect r="r" b="b" t="t" l="l"/>
              <a:pathLst>
                <a:path h="118648" w="1712899">
                  <a:moveTo>
                    <a:pt x="6447" y="0"/>
                  </a:moveTo>
                  <a:lnTo>
                    <a:pt x="1706452" y="0"/>
                  </a:lnTo>
                  <a:cubicBezTo>
                    <a:pt x="1708162" y="0"/>
                    <a:pt x="1709802" y="679"/>
                    <a:pt x="1711011" y="1888"/>
                  </a:cubicBezTo>
                  <a:cubicBezTo>
                    <a:pt x="1712220" y="3097"/>
                    <a:pt x="1712899" y="4737"/>
                    <a:pt x="1712899" y="6447"/>
                  </a:cubicBezTo>
                  <a:lnTo>
                    <a:pt x="1712899" y="112202"/>
                  </a:lnTo>
                  <a:cubicBezTo>
                    <a:pt x="1712899" y="115762"/>
                    <a:pt x="1710012" y="118648"/>
                    <a:pt x="1706452" y="118648"/>
                  </a:cubicBezTo>
                  <a:lnTo>
                    <a:pt x="6447" y="118648"/>
                  </a:lnTo>
                  <a:cubicBezTo>
                    <a:pt x="2886" y="118648"/>
                    <a:pt x="0" y="115762"/>
                    <a:pt x="0" y="112202"/>
                  </a:cubicBezTo>
                  <a:lnTo>
                    <a:pt x="0" y="6447"/>
                  </a:lnTo>
                  <a:cubicBezTo>
                    <a:pt x="0" y="2886"/>
                    <a:pt x="2886" y="0"/>
                    <a:pt x="64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712899" cy="166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128"/>
                </a:lnSpc>
                <a:spcBef>
                  <a:spcPct val="0"/>
                </a:spcBef>
              </a:pPr>
              <a:r>
                <a:rPr lang="en-US" b="true" sz="2234" spc="147">
                  <a:solidFill>
                    <a:srgbClr val="181B2E"/>
                  </a:solidFill>
                  <a:latin typeface="Saira Bold"/>
                  <a:ea typeface="Saira Bold"/>
                  <a:cs typeface="Saira Bold"/>
                  <a:sym typeface="Saira Bold"/>
                </a:rPr>
                <a:t>Pacman simplificado (rejilla, monedas, fantasma)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731107" y="5967502"/>
            <a:ext cx="3640628" cy="582307"/>
            <a:chOff x="0" y="0"/>
            <a:chExt cx="741799" cy="1186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1799" cy="118648"/>
            </a:xfrm>
            <a:custGeom>
              <a:avLst/>
              <a:gdLst/>
              <a:ahLst/>
              <a:cxnLst/>
              <a:rect r="r" b="b" t="t" l="l"/>
              <a:pathLst>
                <a:path h="118648" w="741799">
                  <a:moveTo>
                    <a:pt x="14886" y="0"/>
                  </a:moveTo>
                  <a:lnTo>
                    <a:pt x="726913" y="0"/>
                  </a:lnTo>
                  <a:cubicBezTo>
                    <a:pt x="735134" y="0"/>
                    <a:pt x="741799" y="6665"/>
                    <a:pt x="741799" y="14886"/>
                  </a:cubicBezTo>
                  <a:lnTo>
                    <a:pt x="741799" y="103763"/>
                  </a:lnTo>
                  <a:cubicBezTo>
                    <a:pt x="741799" y="107711"/>
                    <a:pt x="740231" y="111497"/>
                    <a:pt x="737439" y="114288"/>
                  </a:cubicBezTo>
                  <a:cubicBezTo>
                    <a:pt x="734647" y="117080"/>
                    <a:pt x="730861" y="118648"/>
                    <a:pt x="726913" y="118648"/>
                  </a:cubicBezTo>
                  <a:lnTo>
                    <a:pt x="14886" y="118648"/>
                  </a:lnTo>
                  <a:cubicBezTo>
                    <a:pt x="6665" y="118648"/>
                    <a:pt x="0" y="111984"/>
                    <a:pt x="0" y="103763"/>
                  </a:cubicBezTo>
                  <a:lnTo>
                    <a:pt x="0" y="14886"/>
                  </a:lnTo>
                  <a:cubicBezTo>
                    <a:pt x="0" y="6665"/>
                    <a:pt x="6665" y="0"/>
                    <a:pt x="148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741799" cy="166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128"/>
                </a:lnSpc>
                <a:spcBef>
                  <a:spcPct val="0"/>
                </a:spcBef>
              </a:pPr>
              <a:r>
                <a:rPr lang="en-US" b="true" sz="2234" spc="147">
                  <a:solidFill>
                    <a:srgbClr val="181B2E"/>
                  </a:solidFill>
                  <a:latin typeface="Saira Bold"/>
                  <a:ea typeface="Saira Bold"/>
                  <a:cs typeface="Saira Bold"/>
                  <a:sym typeface="Saira Bold"/>
                </a:rPr>
                <a:t>Acciones discretas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114107" y="4690567"/>
            <a:ext cx="3640628" cy="582307"/>
            <a:chOff x="0" y="0"/>
            <a:chExt cx="741799" cy="1186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1799" cy="118648"/>
            </a:xfrm>
            <a:custGeom>
              <a:avLst/>
              <a:gdLst/>
              <a:ahLst/>
              <a:cxnLst/>
              <a:rect r="r" b="b" t="t" l="l"/>
              <a:pathLst>
                <a:path h="118648" w="741799">
                  <a:moveTo>
                    <a:pt x="14886" y="0"/>
                  </a:moveTo>
                  <a:lnTo>
                    <a:pt x="726913" y="0"/>
                  </a:lnTo>
                  <a:cubicBezTo>
                    <a:pt x="735134" y="0"/>
                    <a:pt x="741799" y="6665"/>
                    <a:pt x="741799" y="14886"/>
                  </a:cubicBezTo>
                  <a:lnTo>
                    <a:pt x="741799" y="103763"/>
                  </a:lnTo>
                  <a:cubicBezTo>
                    <a:pt x="741799" y="107711"/>
                    <a:pt x="740231" y="111497"/>
                    <a:pt x="737439" y="114288"/>
                  </a:cubicBezTo>
                  <a:cubicBezTo>
                    <a:pt x="734647" y="117080"/>
                    <a:pt x="730861" y="118648"/>
                    <a:pt x="726913" y="118648"/>
                  </a:cubicBezTo>
                  <a:lnTo>
                    <a:pt x="14886" y="118648"/>
                  </a:lnTo>
                  <a:cubicBezTo>
                    <a:pt x="6665" y="118648"/>
                    <a:pt x="0" y="111984"/>
                    <a:pt x="0" y="103763"/>
                  </a:cubicBezTo>
                  <a:lnTo>
                    <a:pt x="0" y="14886"/>
                  </a:lnTo>
                  <a:cubicBezTo>
                    <a:pt x="0" y="6665"/>
                    <a:pt x="6665" y="0"/>
                    <a:pt x="148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741799" cy="166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128"/>
                </a:lnSpc>
                <a:spcBef>
                  <a:spcPct val="0"/>
                </a:spcBef>
              </a:pPr>
              <a:r>
                <a:rPr lang="en-US" b="true" sz="2234" spc="147">
                  <a:solidFill>
                    <a:srgbClr val="181B2E"/>
                  </a:solidFill>
                  <a:latin typeface="Saira Bold"/>
                  <a:ea typeface="Saira Bold"/>
                  <a:cs typeface="Saira Bold"/>
                  <a:sym typeface="Saira Bold"/>
                </a:rPr>
                <a:t>Recompensas fijas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7922638">
            <a:off x="-2532649" y="6919329"/>
            <a:ext cx="7444043" cy="5516851"/>
          </a:xfrm>
          <a:custGeom>
            <a:avLst/>
            <a:gdLst/>
            <a:ahLst/>
            <a:cxnLst/>
            <a:rect r="r" b="b" t="t" l="l"/>
            <a:pathLst>
              <a:path h="5516851" w="7444043">
                <a:moveTo>
                  <a:pt x="0" y="0"/>
                </a:moveTo>
                <a:lnTo>
                  <a:pt x="7444043" y="0"/>
                </a:lnTo>
                <a:lnTo>
                  <a:pt x="7444043" y="5516851"/>
                </a:lnTo>
                <a:lnTo>
                  <a:pt x="0" y="55168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231097" y="94538"/>
            <a:ext cx="12764331" cy="138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21"/>
              </a:lnSpc>
              <a:spcBef>
                <a:spcPct val="0"/>
              </a:spcBef>
            </a:pPr>
            <a:r>
              <a:rPr lang="en-US" sz="5943">
                <a:solidFill>
                  <a:srgbClr val="8FE3FD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Creación de un entorno propio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98137" y="1300503"/>
            <a:ext cx="8299870" cy="1910425"/>
            <a:chOff x="0" y="0"/>
            <a:chExt cx="2495026" cy="5742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5026" cy="574293"/>
            </a:xfrm>
            <a:custGeom>
              <a:avLst/>
              <a:gdLst/>
              <a:ahLst/>
              <a:cxnLst/>
              <a:rect r="r" b="b" t="t" l="l"/>
              <a:pathLst>
                <a:path h="574293" w="2495026">
                  <a:moveTo>
                    <a:pt x="0" y="0"/>
                  </a:moveTo>
                  <a:lnTo>
                    <a:pt x="2495026" y="0"/>
                  </a:lnTo>
                  <a:lnTo>
                    <a:pt x="2495026" y="574293"/>
                  </a:lnTo>
                  <a:lnTo>
                    <a:pt x="0" y="574293"/>
                  </a:lnTo>
                  <a:close/>
                </a:path>
              </a:pathLst>
            </a:custGeom>
            <a:gradFill rotWithShape="true">
              <a:gsLst>
                <a:gs pos="0">
                  <a:srgbClr val="000102">
                    <a:alpha val="63000"/>
                  </a:srgbClr>
                </a:gs>
                <a:gs pos="100000">
                  <a:srgbClr val="000000">
                    <a:alpha val="590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92FEFE">
                      <a:alpha val="100000"/>
                    </a:srgbClr>
                  </a:gs>
                  <a:gs pos="100000">
                    <a:srgbClr val="3894BB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495026" cy="6219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398137" y="3357298"/>
            <a:ext cx="8299870" cy="1910425"/>
            <a:chOff x="0" y="0"/>
            <a:chExt cx="2495026" cy="5742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95026" cy="574293"/>
            </a:xfrm>
            <a:custGeom>
              <a:avLst/>
              <a:gdLst/>
              <a:ahLst/>
              <a:cxnLst/>
              <a:rect r="r" b="b" t="t" l="l"/>
              <a:pathLst>
                <a:path h="574293" w="2495026">
                  <a:moveTo>
                    <a:pt x="0" y="0"/>
                  </a:moveTo>
                  <a:lnTo>
                    <a:pt x="2495026" y="0"/>
                  </a:lnTo>
                  <a:lnTo>
                    <a:pt x="2495026" y="574293"/>
                  </a:lnTo>
                  <a:lnTo>
                    <a:pt x="0" y="574293"/>
                  </a:lnTo>
                  <a:close/>
                </a:path>
              </a:pathLst>
            </a:custGeom>
            <a:gradFill rotWithShape="true">
              <a:gsLst>
                <a:gs pos="0">
                  <a:srgbClr val="000102">
                    <a:alpha val="63000"/>
                  </a:srgbClr>
                </a:gs>
                <a:gs pos="100000">
                  <a:srgbClr val="000000">
                    <a:alpha val="590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92FEFE">
                      <a:alpha val="100000"/>
                    </a:srgbClr>
                  </a:gs>
                  <a:gs pos="100000">
                    <a:srgbClr val="3894BB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495026" cy="6219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398137" y="5417936"/>
            <a:ext cx="8299870" cy="1910425"/>
            <a:chOff x="0" y="0"/>
            <a:chExt cx="2495026" cy="5742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95026" cy="574293"/>
            </a:xfrm>
            <a:custGeom>
              <a:avLst/>
              <a:gdLst/>
              <a:ahLst/>
              <a:cxnLst/>
              <a:rect r="r" b="b" t="t" l="l"/>
              <a:pathLst>
                <a:path h="574293" w="2495026">
                  <a:moveTo>
                    <a:pt x="0" y="0"/>
                  </a:moveTo>
                  <a:lnTo>
                    <a:pt x="2495026" y="0"/>
                  </a:lnTo>
                  <a:lnTo>
                    <a:pt x="2495026" y="574293"/>
                  </a:lnTo>
                  <a:lnTo>
                    <a:pt x="0" y="574293"/>
                  </a:lnTo>
                  <a:close/>
                </a:path>
              </a:pathLst>
            </a:custGeom>
            <a:gradFill rotWithShape="true">
              <a:gsLst>
                <a:gs pos="0">
                  <a:srgbClr val="000102">
                    <a:alpha val="63000"/>
                  </a:srgbClr>
                </a:gs>
                <a:gs pos="100000">
                  <a:srgbClr val="000000">
                    <a:alpha val="590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92FEFE">
                      <a:alpha val="100000"/>
                    </a:srgbClr>
                  </a:gs>
                  <a:gs pos="100000">
                    <a:srgbClr val="3894BB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495026" cy="6219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398137" y="7478574"/>
            <a:ext cx="8299870" cy="1910425"/>
            <a:chOff x="0" y="0"/>
            <a:chExt cx="2495026" cy="57429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95026" cy="574293"/>
            </a:xfrm>
            <a:custGeom>
              <a:avLst/>
              <a:gdLst/>
              <a:ahLst/>
              <a:cxnLst/>
              <a:rect r="r" b="b" t="t" l="l"/>
              <a:pathLst>
                <a:path h="574293" w="2495026">
                  <a:moveTo>
                    <a:pt x="0" y="0"/>
                  </a:moveTo>
                  <a:lnTo>
                    <a:pt x="2495026" y="0"/>
                  </a:lnTo>
                  <a:lnTo>
                    <a:pt x="2495026" y="574293"/>
                  </a:lnTo>
                  <a:lnTo>
                    <a:pt x="0" y="574293"/>
                  </a:lnTo>
                  <a:close/>
                </a:path>
              </a:pathLst>
            </a:custGeom>
            <a:gradFill rotWithShape="true">
              <a:gsLst>
                <a:gs pos="0">
                  <a:srgbClr val="000102">
                    <a:alpha val="63000"/>
                  </a:srgbClr>
                </a:gs>
                <a:gs pos="100000">
                  <a:srgbClr val="000000">
                    <a:alpha val="590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92FEFE">
                      <a:alpha val="100000"/>
                    </a:srgbClr>
                  </a:gs>
                  <a:gs pos="100000">
                    <a:srgbClr val="3894BB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495026" cy="6219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81050" y="5004548"/>
            <a:ext cx="5041088" cy="1537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60"/>
              </a:lnSpc>
              <a:spcBef>
                <a:spcPct val="0"/>
              </a:spcBef>
            </a:pPr>
            <a:r>
              <a:rPr lang="en-US" sz="6542">
                <a:solidFill>
                  <a:srgbClr val="8FE3FD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Modos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1050" y="3204795"/>
            <a:ext cx="6660971" cy="2143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90"/>
              </a:lnSpc>
              <a:spcBef>
                <a:spcPct val="0"/>
              </a:spcBef>
            </a:pPr>
            <a:r>
              <a:rPr lang="en-US" sz="5207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Complejidad de la observación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689671" y="1576625"/>
            <a:ext cx="1416932" cy="141693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689671" y="3633420"/>
            <a:ext cx="1416932" cy="141693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689671" y="5694058"/>
            <a:ext cx="1416932" cy="141693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689671" y="7754695"/>
            <a:ext cx="1416932" cy="1416932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222614" y="1938590"/>
            <a:ext cx="7247363" cy="664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1"/>
              </a:lnSpc>
            </a:pPr>
            <a:r>
              <a:rPr lang="en-US" sz="1993" spc="63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El modo más mínimo, tan solo se conoce la posición del agente y del fantasma.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248242" y="3927699"/>
            <a:ext cx="7247363" cy="1001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1"/>
              </a:lnSpc>
            </a:pPr>
            <a:r>
              <a:rPr lang="en-US" sz="1993" spc="63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Además del contenido de minimal, se añade información en forma de boolean para saber si está o no activo el comodín.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214656" y="5887563"/>
            <a:ext cx="7247363" cy="1001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1"/>
              </a:lnSpc>
            </a:pPr>
            <a:r>
              <a:rPr lang="en-US" sz="1993" spc="63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Además de las dos anteriores, se añade información con respecto al tiempo restante activo que le queda al comodín.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22614" y="7750366"/>
            <a:ext cx="7247363" cy="1338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1"/>
              </a:lnSpc>
            </a:pPr>
            <a:r>
              <a:rPr lang="en-US" sz="1993" spc="63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Además de los tres anteriores, este añade una información espacial agregada. Divide el mapa en 4 cuadrantes y añade la cantidad de monedas disponibles en cada uno de ellos.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615204" y="2019356"/>
            <a:ext cx="1633038" cy="417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12"/>
              </a:lnSpc>
            </a:pPr>
            <a:r>
              <a:rPr lang="en-US" b="true" sz="1907">
                <a:solidFill>
                  <a:srgbClr val="0A1944"/>
                </a:solidFill>
                <a:latin typeface="Pattanakarn Expanded Bold"/>
                <a:ea typeface="Pattanakarn Expanded Bold"/>
                <a:cs typeface="Pattanakarn Expanded Bold"/>
                <a:sym typeface="Pattanakarn Expanded Bold"/>
              </a:rPr>
              <a:t>Minimal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581618" y="3921119"/>
            <a:ext cx="1633038" cy="69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2"/>
              </a:lnSpc>
            </a:pPr>
            <a:r>
              <a:rPr lang="en-US" sz="1907" b="true">
                <a:solidFill>
                  <a:srgbClr val="0A1944"/>
                </a:solidFill>
                <a:latin typeface="Pattanakarn Expanded Bold"/>
                <a:ea typeface="Pattanakarn Expanded Bold"/>
                <a:cs typeface="Pattanakarn Expanded Bold"/>
                <a:sym typeface="Pattanakarn Expanded Bold"/>
              </a:rPr>
              <a:t>Bool</a:t>
            </a:r>
          </a:p>
          <a:p>
            <a:pPr algn="ctr" marL="0" indent="0" lvl="0">
              <a:lnSpc>
                <a:spcPts val="2212"/>
              </a:lnSpc>
            </a:pPr>
            <a:r>
              <a:rPr lang="en-US" b="true" sz="1907">
                <a:solidFill>
                  <a:srgbClr val="0A1944"/>
                </a:solidFill>
                <a:latin typeface="Pattanakarn Expanded Bold"/>
                <a:ea typeface="Pattanakarn Expanded Bold"/>
                <a:cs typeface="Pattanakarn Expanded Bold"/>
                <a:sym typeface="Pattanakarn Expanded Bold"/>
              </a:rPr>
              <a:t>Power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615204" y="6009603"/>
            <a:ext cx="1526707" cy="67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8"/>
              </a:lnSpc>
            </a:pPr>
            <a:r>
              <a:rPr lang="en-US" sz="1783" b="true">
                <a:solidFill>
                  <a:srgbClr val="0A1944"/>
                </a:solidFill>
                <a:latin typeface="Pattanakarn Expanded Bold"/>
                <a:ea typeface="Pattanakarn Expanded Bold"/>
                <a:cs typeface="Pattanakarn Expanded Bold"/>
                <a:sym typeface="Pattanakarn Expanded Bold"/>
              </a:rPr>
              <a:t>Power</a:t>
            </a:r>
          </a:p>
          <a:p>
            <a:pPr algn="ctr" marL="0" indent="0" lvl="0">
              <a:lnSpc>
                <a:spcPts val="2068"/>
              </a:lnSpc>
            </a:pPr>
            <a:r>
              <a:rPr lang="en-US" b="true" sz="1783">
                <a:solidFill>
                  <a:srgbClr val="0A1944"/>
                </a:solidFill>
                <a:latin typeface="Pattanakarn Expanded Bold"/>
                <a:ea typeface="Pattanakarn Expanded Bold"/>
                <a:cs typeface="Pattanakarn Expanded Bold"/>
                <a:sym typeface="Pattanakarn Expanded Bold"/>
              </a:rPr>
              <a:t>Time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650511" y="8014161"/>
            <a:ext cx="1456092" cy="61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2"/>
              </a:lnSpc>
            </a:pPr>
            <a:r>
              <a:rPr lang="en-US" sz="1700" b="true">
                <a:solidFill>
                  <a:srgbClr val="0A1944"/>
                </a:solidFill>
                <a:latin typeface="Pattanakarn Expanded Bold"/>
                <a:ea typeface="Pattanakarn Expanded Bold"/>
                <a:cs typeface="Pattanakarn Expanded Bold"/>
                <a:sym typeface="Pattanakarn Expanded Bold"/>
              </a:rPr>
              <a:t>Coins</a:t>
            </a:r>
          </a:p>
          <a:p>
            <a:pPr algn="ctr" marL="0" indent="0" lvl="0">
              <a:lnSpc>
                <a:spcPts val="1972"/>
              </a:lnSpc>
            </a:pPr>
            <a:r>
              <a:rPr lang="en-US" b="true" sz="1700">
                <a:solidFill>
                  <a:srgbClr val="0A1944"/>
                </a:solidFill>
                <a:latin typeface="Pattanakarn Expanded Bold"/>
                <a:ea typeface="Pattanakarn Expanded Bold"/>
                <a:cs typeface="Pattanakarn Expanded Bold"/>
                <a:sym typeface="Pattanakarn Expanded Bold"/>
              </a:rPr>
              <a:t>Quadrants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-10800000">
            <a:off x="-2620346" y="1768426"/>
            <a:ext cx="4505639" cy="4276261"/>
          </a:xfrm>
          <a:custGeom>
            <a:avLst/>
            <a:gdLst/>
            <a:ahLst/>
            <a:cxnLst/>
            <a:rect r="r" b="b" t="t" l="l"/>
            <a:pathLst>
              <a:path h="4276261" w="4505639">
                <a:moveTo>
                  <a:pt x="0" y="0"/>
                </a:moveTo>
                <a:lnTo>
                  <a:pt x="4505639" y="0"/>
                </a:lnTo>
                <a:lnTo>
                  <a:pt x="4505639" y="4276261"/>
                </a:lnTo>
                <a:lnTo>
                  <a:pt x="0" y="42762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-5400000">
            <a:off x="-1471770" y="-2514884"/>
            <a:ext cx="4505639" cy="4276261"/>
          </a:xfrm>
          <a:custGeom>
            <a:avLst/>
            <a:gdLst/>
            <a:ahLst/>
            <a:cxnLst/>
            <a:rect r="r" b="b" t="t" l="l"/>
            <a:pathLst>
              <a:path h="4276261" w="4505639">
                <a:moveTo>
                  <a:pt x="0" y="0"/>
                </a:moveTo>
                <a:lnTo>
                  <a:pt x="4505640" y="0"/>
                </a:lnTo>
                <a:lnTo>
                  <a:pt x="4505640" y="4276262"/>
                </a:lnTo>
                <a:lnTo>
                  <a:pt x="0" y="42762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-1114332">
            <a:off x="2952870" y="-1671507"/>
            <a:ext cx="4505639" cy="4276261"/>
          </a:xfrm>
          <a:custGeom>
            <a:avLst/>
            <a:gdLst/>
            <a:ahLst/>
            <a:cxnLst/>
            <a:rect r="r" b="b" t="t" l="l"/>
            <a:pathLst>
              <a:path h="4276261" w="4505639">
                <a:moveTo>
                  <a:pt x="0" y="0"/>
                </a:moveTo>
                <a:lnTo>
                  <a:pt x="4505639" y="0"/>
                </a:lnTo>
                <a:lnTo>
                  <a:pt x="4505639" y="4276261"/>
                </a:lnTo>
                <a:lnTo>
                  <a:pt x="0" y="42762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-10728613">
            <a:off x="-1367287" y="6953423"/>
            <a:ext cx="6275783" cy="5956289"/>
          </a:xfrm>
          <a:custGeom>
            <a:avLst/>
            <a:gdLst/>
            <a:ahLst/>
            <a:cxnLst/>
            <a:rect r="r" b="b" t="t" l="l"/>
            <a:pathLst>
              <a:path h="5956289" w="6275783">
                <a:moveTo>
                  <a:pt x="0" y="0"/>
                </a:moveTo>
                <a:lnTo>
                  <a:pt x="6275783" y="0"/>
                </a:lnTo>
                <a:lnTo>
                  <a:pt x="6275783" y="5956288"/>
                </a:lnTo>
                <a:lnTo>
                  <a:pt x="0" y="59562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2663" y="3706001"/>
            <a:ext cx="2919157" cy="291915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2FEFE">
                    <a:alpha val="100000"/>
                  </a:srgbClr>
                </a:gs>
                <a:gs pos="100000">
                  <a:srgbClr val="3894BB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002410"/>
            <a:ext cx="2791204" cy="584234"/>
            <a:chOff x="0" y="0"/>
            <a:chExt cx="537134" cy="1124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7134" cy="112429"/>
            </a:xfrm>
            <a:custGeom>
              <a:avLst/>
              <a:gdLst/>
              <a:ahLst/>
              <a:cxnLst/>
              <a:rect r="r" b="b" t="t" l="l"/>
              <a:pathLst>
                <a:path h="112429" w="537134">
                  <a:moveTo>
                    <a:pt x="56215" y="0"/>
                  </a:moveTo>
                  <a:lnTo>
                    <a:pt x="480920" y="0"/>
                  </a:lnTo>
                  <a:cubicBezTo>
                    <a:pt x="495829" y="0"/>
                    <a:pt x="510127" y="5923"/>
                    <a:pt x="520670" y="16465"/>
                  </a:cubicBezTo>
                  <a:cubicBezTo>
                    <a:pt x="531212" y="27007"/>
                    <a:pt x="537134" y="41305"/>
                    <a:pt x="537134" y="56215"/>
                  </a:cubicBezTo>
                  <a:lnTo>
                    <a:pt x="537134" y="56215"/>
                  </a:lnTo>
                  <a:cubicBezTo>
                    <a:pt x="537134" y="87261"/>
                    <a:pt x="511966" y="112429"/>
                    <a:pt x="480920" y="112429"/>
                  </a:cubicBezTo>
                  <a:lnTo>
                    <a:pt x="56215" y="112429"/>
                  </a:lnTo>
                  <a:cubicBezTo>
                    <a:pt x="25168" y="112429"/>
                    <a:pt x="0" y="87261"/>
                    <a:pt x="0" y="56215"/>
                  </a:cubicBezTo>
                  <a:lnTo>
                    <a:pt x="0" y="56215"/>
                  </a:lnTo>
                  <a:cubicBezTo>
                    <a:pt x="0" y="25168"/>
                    <a:pt x="25168" y="0"/>
                    <a:pt x="562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2FEFE">
                    <a:alpha val="100000"/>
                  </a:srgbClr>
                </a:gs>
                <a:gs pos="100000">
                  <a:srgbClr val="3894BB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37134" cy="160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b="true" sz="2249">
                  <a:solidFill>
                    <a:srgbClr val="1C29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DQN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4873462"/>
            <a:ext cx="2791204" cy="584234"/>
            <a:chOff x="0" y="0"/>
            <a:chExt cx="537134" cy="1124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7134" cy="112429"/>
            </a:xfrm>
            <a:custGeom>
              <a:avLst/>
              <a:gdLst/>
              <a:ahLst/>
              <a:cxnLst/>
              <a:rect r="r" b="b" t="t" l="l"/>
              <a:pathLst>
                <a:path h="112429" w="537134">
                  <a:moveTo>
                    <a:pt x="56215" y="0"/>
                  </a:moveTo>
                  <a:lnTo>
                    <a:pt x="480920" y="0"/>
                  </a:lnTo>
                  <a:cubicBezTo>
                    <a:pt x="495829" y="0"/>
                    <a:pt x="510127" y="5923"/>
                    <a:pt x="520670" y="16465"/>
                  </a:cubicBezTo>
                  <a:cubicBezTo>
                    <a:pt x="531212" y="27007"/>
                    <a:pt x="537134" y="41305"/>
                    <a:pt x="537134" y="56215"/>
                  </a:cubicBezTo>
                  <a:lnTo>
                    <a:pt x="537134" y="56215"/>
                  </a:lnTo>
                  <a:cubicBezTo>
                    <a:pt x="537134" y="87261"/>
                    <a:pt x="511966" y="112429"/>
                    <a:pt x="480920" y="112429"/>
                  </a:cubicBezTo>
                  <a:lnTo>
                    <a:pt x="56215" y="112429"/>
                  </a:lnTo>
                  <a:cubicBezTo>
                    <a:pt x="25168" y="112429"/>
                    <a:pt x="0" y="87261"/>
                    <a:pt x="0" y="56215"/>
                  </a:cubicBezTo>
                  <a:lnTo>
                    <a:pt x="0" y="56215"/>
                  </a:lnTo>
                  <a:cubicBezTo>
                    <a:pt x="0" y="25168"/>
                    <a:pt x="25168" y="0"/>
                    <a:pt x="562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2FEFE">
                    <a:alpha val="100000"/>
                  </a:srgbClr>
                </a:gs>
                <a:gs pos="100000">
                  <a:srgbClr val="3894BB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37134" cy="160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b="true" sz="2249">
                  <a:solidFill>
                    <a:srgbClr val="1C29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A2C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5738410"/>
            <a:ext cx="2791204" cy="584234"/>
            <a:chOff x="0" y="0"/>
            <a:chExt cx="537134" cy="1124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7134" cy="112429"/>
            </a:xfrm>
            <a:custGeom>
              <a:avLst/>
              <a:gdLst/>
              <a:ahLst/>
              <a:cxnLst/>
              <a:rect r="r" b="b" t="t" l="l"/>
              <a:pathLst>
                <a:path h="112429" w="537134">
                  <a:moveTo>
                    <a:pt x="56215" y="0"/>
                  </a:moveTo>
                  <a:lnTo>
                    <a:pt x="480920" y="0"/>
                  </a:lnTo>
                  <a:cubicBezTo>
                    <a:pt x="495829" y="0"/>
                    <a:pt x="510127" y="5923"/>
                    <a:pt x="520670" y="16465"/>
                  </a:cubicBezTo>
                  <a:cubicBezTo>
                    <a:pt x="531212" y="27007"/>
                    <a:pt x="537134" y="41305"/>
                    <a:pt x="537134" y="56215"/>
                  </a:cubicBezTo>
                  <a:lnTo>
                    <a:pt x="537134" y="56215"/>
                  </a:lnTo>
                  <a:cubicBezTo>
                    <a:pt x="537134" y="87261"/>
                    <a:pt x="511966" y="112429"/>
                    <a:pt x="480920" y="112429"/>
                  </a:cubicBezTo>
                  <a:lnTo>
                    <a:pt x="56215" y="112429"/>
                  </a:lnTo>
                  <a:cubicBezTo>
                    <a:pt x="25168" y="112429"/>
                    <a:pt x="0" y="87261"/>
                    <a:pt x="0" y="56215"/>
                  </a:cubicBezTo>
                  <a:lnTo>
                    <a:pt x="0" y="56215"/>
                  </a:lnTo>
                  <a:cubicBezTo>
                    <a:pt x="0" y="25168"/>
                    <a:pt x="25168" y="0"/>
                    <a:pt x="562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2FEFE">
                    <a:alpha val="100000"/>
                  </a:srgbClr>
                </a:gs>
                <a:gs pos="100000">
                  <a:srgbClr val="3894BB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37134" cy="160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b="true" sz="2249">
                  <a:solidFill>
                    <a:srgbClr val="1C29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PPO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flipH="true" flipV="true">
            <a:off x="3819904" y="4294527"/>
            <a:ext cx="1292759" cy="871052"/>
          </a:xfrm>
          <a:prstGeom prst="line">
            <a:avLst/>
          </a:prstGeom>
          <a:ln cap="rnd" w="38100">
            <a:solidFill>
              <a:srgbClr val="41B8D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5" id="15"/>
          <p:cNvSpPr/>
          <p:nvPr/>
        </p:nvSpPr>
        <p:spPr>
          <a:xfrm flipH="true" flipV="true">
            <a:off x="3819904" y="5165579"/>
            <a:ext cx="1292759" cy="0"/>
          </a:xfrm>
          <a:prstGeom prst="line">
            <a:avLst/>
          </a:prstGeom>
          <a:ln cap="rnd" w="38100">
            <a:solidFill>
              <a:srgbClr val="41B8D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6" id="16"/>
          <p:cNvSpPr/>
          <p:nvPr/>
        </p:nvSpPr>
        <p:spPr>
          <a:xfrm flipH="true">
            <a:off x="3819904" y="5165579"/>
            <a:ext cx="1292759" cy="864948"/>
          </a:xfrm>
          <a:prstGeom prst="line">
            <a:avLst/>
          </a:prstGeom>
          <a:ln cap="rnd" w="38100">
            <a:solidFill>
              <a:srgbClr val="41B8D5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8325170" y="6445700"/>
            <a:ext cx="2812600" cy="281260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2FEFE">
                    <a:alpha val="100000"/>
                  </a:srgbClr>
                </a:gs>
                <a:gs pos="100000">
                  <a:srgbClr val="3894BB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965852" y="7037145"/>
            <a:ext cx="2535204" cy="499883"/>
            <a:chOff x="0" y="0"/>
            <a:chExt cx="570194" cy="1124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0194" cy="112429"/>
            </a:xfrm>
            <a:custGeom>
              <a:avLst/>
              <a:gdLst/>
              <a:ahLst/>
              <a:cxnLst/>
              <a:rect r="r" b="b" t="t" l="l"/>
              <a:pathLst>
                <a:path h="112429" w="570194">
                  <a:moveTo>
                    <a:pt x="56215" y="0"/>
                  </a:moveTo>
                  <a:lnTo>
                    <a:pt x="513979" y="0"/>
                  </a:lnTo>
                  <a:cubicBezTo>
                    <a:pt x="545026" y="0"/>
                    <a:pt x="570194" y="25168"/>
                    <a:pt x="570194" y="56215"/>
                  </a:cubicBezTo>
                  <a:lnTo>
                    <a:pt x="570194" y="56215"/>
                  </a:lnTo>
                  <a:cubicBezTo>
                    <a:pt x="570194" y="71124"/>
                    <a:pt x="564271" y="85422"/>
                    <a:pt x="553729" y="95964"/>
                  </a:cubicBezTo>
                  <a:cubicBezTo>
                    <a:pt x="543187" y="106506"/>
                    <a:pt x="528889" y="112429"/>
                    <a:pt x="513979" y="112429"/>
                  </a:cubicBezTo>
                  <a:lnTo>
                    <a:pt x="56215" y="112429"/>
                  </a:lnTo>
                  <a:cubicBezTo>
                    <a:pt x="25168" y="112429"/>
                    <a:pt x="0" y="87261"/>
                    <a:pt x="0" y="56215"/>
                  </a:cubicBezTo>
                  <a:lnTo>
                    <a:pt x="0" y="56215"/>
                  </a:lnTo>
                  <a:cubicBezTo>
                    <a:pt x="0" y="25168"/>
                    <a:pt x="25168" y="0"/>
                    <a:pt x="562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2FEFE">
                    <a:alpha val="100000"/>
                  </a:srgbClr>
                </a:gs>
                <a:gs pos="100000">
                  <a:srgbClr val="3894BB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570194" cy="160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b="true" sz="2249">
                  <a:solidFill>
                    <a:srgbClr val="1C29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Mean reward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965852" y="8129973"/>
            <a:ext cx="2535204" cy="499883"/>
            <a:chOff x="0" y="0"/>
            <a:chExt cx="570194" cy="1124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70194" cy="112429"/>
            </a:xfrm>
            <a:custGeom>
              <a:avLst/>
              <a:gdLst/>
              <a:ahLst/>
              <a:cxnLst/>
              <a:rect r="r" b="b" t="t" l="l"/>
              <a:pathLst>
                <a:path h="112429" w="570194">
                  <a:moveTo>
                    <a:pt x="56215" y="0"/>
                  </a:moveTo>
                  <a:lnTo>
                    <a:pt x="513979" y="0"/>
                  </a:lnTo>
                  <a:cubicBezTo>
                    <a:pt x="545026" y="0"/>
                    <a:pt x="570194" y="25168"/>
                    <a:pt x="570194" y="56215"/>
                  </a:cubicBezTo>
                  <a:lnTo>
                    <a:pt x="570194" y="56215"/>
                  </a:lnTo>
                  <a:cubicBezTo>
                    <a:pt x="570194" y="71124"/>
                    <a:pt x="564271" y="85422"/>
                    <a:pt x="553729" y="95964"/>
                  </a:cubicBezTo>
                  <a:cubicBezTo>
                    <a:pt x="543187" y="106506"/>
                    <a:pt x="528889" y="112429"/>
                    <a:pt x="513979" y="112429"/>
                  </a:cubicBezTo>
                  <a:lnTo>
                    <a:pt x="56215" y="112429"/>
                  </a:lnTo>
                  <a:cubicBezTo>
                    <a:pt x="25168" y="112429"/>
                    <a:pt x="0" y="87261"/>
                    <a:pt x="0" y="56215"/>
                  </a:cubicBezTo>
                  <a:lnTo>
                    <a:pt x="0" y="56215"/>
                  </a:lnTo>
                  <a:cubicBezTo>
                    <a:pt x="0" y="25168"/>
                    <a:pt x="25168" y="0"/>
                    <a:pt x="562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2FEFE">
                    <a:alpha val="100000"/>
                  </a:srgbClr>
                </a:gs>
                <a:gs pos="100000">
                  <a:srgbClr val="3894BB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70194" cy="160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b="true" sz="2249">
                  <a:solidFill>
                    <a:srgbClr val="1C293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Completion Ratio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flipV="true">
            <a:off x="11137770" y="7287087"/>
            <a:ext cx="1828082" cy="564913"/>
          </a:xfrm>
          <a:prstGeom prst="line">
            <a:avLst/>
          </a:prstGeom>
          <a:ln cap="rnd" w="28575">
            <a:solidFill>
              <a:srgbClr val="41B8D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7" id="27"/>
          <p:cNvSpPr/>
          <p:nvPr/>
        </p:nvSpPr>
        <p:spPr>
          <a:xfrm>
            <a:off x="11137770" y="7852000"/>
            <a:ext cx="1828082" cy="527915"/>
          </a:xfrm>
          <a:prstGeom prst="line">
            <a:avLst/>
          </a:prstGeom>
          <a:ln cap="rnd" w="28575">
            <a:solidFill>
              <a:srgbClr val="41B8D5"/>
            </a:solidFill>
            <a:prstDash val="solid"/>
            <a:headEnd type="none" len="sm" w="sm"/>
            <a:tailEnd type="arrow" len="sm" w="med"/>
          </a:ln>
        </p:spPr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477189" y="4447927"/>
            <a:ext cx="327382" cy="834660"/>
          </a:xfrm>
          <a:prstGeom prst="rect">
            <a:avLst/>
          </a:prstGeom>
        </p:spPr>
      </p:pic>
      <p:sp>
        <p:nvSpPr>
          <p:cNvPr name="Freeform 29" id="29"/>
          <p:cNvSpPr/>
          <p:nvPr/>
        </p:nvSpPr>
        <p:spPr>
          <a:xfrm flipH="false" flipV="false" rot="-3371407">
            <a:off x="14274832" y="-112390"/>
            <a:ext cx="3590163" cy="8229600"/>
          </a:xfrm>
          <a:custGeom>
            <a:avLst/>
            <a:gdLst/>
            <a:ahLst/>
            <a:cxnLst/>
            <a:rect r="r" b="b" t="t" l="l"/>
            <a:pathLst>
              <a:path h="8229600" w="3590163">
                <a:moveTo>
                  <a:pt x="0" y="0"/>
                </a:moveTo>
                <a:lnTo>
                  <a:pt x="3590163" y="0"/>
                </a:lnTo>
                <a:lnTo>
                  <a:pt x="359016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1000"/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028700" y="1377782"/>
            <a:ext cx="9630740" cy="1537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60"/>
              </a:lnSpc>
              <a:spcBef>
                <a:spcPct val="0"/>
              </a:spcBef>
            </a:pPr>
            <a:r>
              <a:rPr lang="en-US" sz="6542">
                <a:solidFill>
                  <a:srgbClr val="8FE3FD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Experimental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600075"/>
            <a:ext cx="6071794" cy="1220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90"/>
              </a:lnSpc>
              <a:spcBef>
                <a:spcPct val="0"/>
              </a:spcBef>
            </a:pPr>
            <a:r>
              <a:rPr lang="en-US" sz="5207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Metodología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228360" y="4794576"/>
            <a:ext cx="2687762" cy="66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1"/>
              </a:lnSpc>
            </a:pPr>
            <a:r>
              <a:rPr lang="en-US" b="true" sz="3035">
                <a:solidFill>
                  <a:srgbClr val="0A1944"/>
                </a:solidFill>
                <a:latin typeface="Pattanakarn Expanded Bold"/>
                <a:ea typeface="Pattanakarn Expanded Bold"/>
                <a:cs typeface="Pattanakarn Expanded Bold"/>
                <a:sym typeface="Pattanakarn Expanded Bold"/>
              </a:rPr>
              <a:t>Algoritmos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546744" y="7388322"/>
            <a:ext cx="2369452" cy="741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60"/>
              </a:lnSpc>
            </a:pPr>
            <a:r>
              <a:rPr lang="en-US" b="true" sz="3414">
                <a:solidFill>
                  <a:srgbClr val="0A1944"/>
                </a:solidFill>
                <a:latin typeface="Pattanakarn Expanded Bold"/>
                <a:ea typeface="Pattanakarn Expanded Bold"/>
                <a:cs typeface="Pattanakarn Expanded Bold"/>
                <a:sym typeface="Pattanakarn Expanded Bold"/>
              </a:rPr>
              <a:t>Métricas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987055" y="4628261"/>
            <a:ext cx="4604002" cy="43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4"/>
              </a:lnSpc>
            </a:pPr>
            <a:r>
              <a:rPr lang="en-US" sz="2618" spc="83">
                <a:solidFill>
                  <a:srgbClr val="FFFFFF"/>
                </a:solidFill>
                <a:latin typeface="Saira"/>
                <a:ea typeface="Saira"/>
                <a:cs typeface="Saira"/>
                <a:sym typeface="Saira"/>
              </a:rPr>
              <a:t>Entrenamiento homogéneo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7922638">
            <a:off x="-2847358" y="8451852"/>
            <a:ext cx="7444043" cy="5516851"/>
          </a:xfrm>
          <a:custGeom>
            <a:avLst/>
            <a:gdLst/>
            <a:ahLst/>
            <a:cxnLst/>
            <a:rect r="r" b="b" t="t" l="l"/>
            <a:pathLst>
              <a:path h="5516851" w="7444043">
                <a:moveTo>
                  <a:pt x="0" y="0"/>
                </a:moveTo>
                <a:lnTo>
                  <a:pt x="7444043" y="0"/>
                </a:lnTo>
                <a:lnTo>
                  <a:pt x="7444043" y="5516851"/>
                </a:lnTo>
                <a:lnTo>
                  <a:pt x="0" y="55168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47067" y="557541"/>
            <a:ext cx="8486935" cy="9091846"/>
            <a:chOff x="0" y="0"/>
            <a:chExt cx="2235242" cy="23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5242" cy="2394560"/>
            </a:xfrm>
            <a:custGeom>
              <a:avLst/>
              <a:gdLst/>
              <a:ahLst/>
              <a:cxnLst/>
              <a:rect r="r" b="b" t="t" l="l"/>
              <a:pathLst>
                <a:path h="2394560" w="2235242">
                  <a:moveTo>
                    <a:pt x="0" y="0"/>
                  </a:moveTo>
                  <a:lnTo>
                    <a:pt x="2235242" y="0"/>
                  </a:lnTo>
                  <a:lnTo>
                    <a:pt x="2235242" y="2394560"/>
                  </a:lnTo>
                  <a:lnTo>
                    <a:pt x="0" y="2394560"/>
                  </a:lnTo>
                  <a:close/>
                </a:path>
              </a:pathLst>
            </a:custGeom>
            <a:gradFill rotWithShape="true">
              <a:gsLst>
                <a:gs pos="0">
                  <a:srgbClr val="000102">
                    <a:alpha val="63000"/>
                  </a:srgbClr>
                </a:gs>
                <a:gs pos="100000">
                  <a:srgbClr val="000000">
                    <a:alpha val="590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92FEFE">
                      <a:alpha val="100000"/>
                    </a:srgbClr>
                  </a:gs>
                  <a:gs pos="100000">
                    <a:srgbClr val="3894BB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235242" cy="24421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69027" y="1189663"/>
            <a:ext cx="7136818" cy="1383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58"/>
              </a:lnSpc>
              <a:spcBef>
                <a:spcPct val="0"/>
              </a:spcBef>
            </a:pPr>
            <a:r>
              <a:rPr lang="en-US" sz="5898">
                <a:solidFill>
                  <a:srgbClr val="8FE3FD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Resultados clave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5295" y="3468273"/>
            <a:ext cx="8433964" cy="46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232" indent="-314616" lvl="1">
              <a:lnSpc>
                <a:spcPts val="3934"/>
              </a:lnSpc>
              <a:buAutoNum type="arabicPeriod" startAt="1"/>
            </a:pPr>
            <a:r>
              <a:rPr lang="en-US" sz="2914" spc="93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DQN mejora con estados más informativos.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382619" y="665174"/>
            <a:ext cx="3813667" cy="456617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7639" y="5797292"/>
            <a:ext cx="7624175" cy="2351564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573607" y="646487"/>
            <a:ext cx="3736421" cy="4586556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429185" y="5374563"/>
            <a:ext cx="4007377" cy="3906425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355295" y="4158881"/>
            <a:ext cx="8433964" cy="46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232" indent="-314616" lvl="1">
              <a:lnSpc>
                <a:spcPts val="3934"/>
              </a:lnSpc>
              <a:buAutoNum type="arabicPeriod" startAt="1"/>
            </a:pPr>
            <a:r>
              <a:rPr lang="en-US" sz="2914" spc="93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A2C es el más estable, aunque limitado.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5295" y="4849489"/>
            <a:ext cx="8433964" cy="46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232" indent="-314616" lvl="1">
              <a:lnSpc>
                <a:spcPts val="3934"/>
              </a:lnSpc>
              <a:buAutoNum type="arabicPeriod" startAt="1"/>
            </a:pPr>
            <a:r>
              <a:rPr lang="en-US" sz="2914" spc="93">
                <a:solidFill>
                  <a:srgbClr val="FFFFFF"/>
                </a:solidFill>
                <a:latin typeface="Saira Light"/>
                <a:ea typeface="Saira Light"/>
                <a:cs typeface="Saira Light"/>
                <a:sym typeface="Saira Light"/>
              </a:rPr>
              <a:t>PPO depende mucho del ajuste.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495394" y="5385309"/>
            <a:ext cx="3895063" cy="38874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45040" y="3357339"/>
            <a:ext cx="7446688" cy="4532587"/>
            <a:chOff x="0" y="0"/>
            <a:chExt cx="1961267" cy="11937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1267" cy="1193768"/>
            </a:xfrm>
            <a:custGeom>
              <a:avLst/>
              <a:gdLst/>
              <a:ahLst/>
              <a:cxnLst/>
              <a:rect r="r" b="b" t="t" l="l"/>
              <a:pathLst>
                <a:path h="1193768" w="1961267">
                  <a:moveTo>
                    <a:pt x="0" y="0"/>
                  </a:moveTo>
                  <a:lnTo>
                    <a:pt x="1961267" y="0"/>
                  </a:lnTo>
                  <a:lnTo>
                    <a:pt x="1961267" y="1193768"/>
                  </a:lnTo>
                  <a:lnTo>
                    <a:pt x="0" y="1193768"/>
                  </a:lnTo>
                  <a:close/>
                </a:path>
              </a:pathLst>
            </a:custGeom>
            <a:gradFill rotWithShape="true">
              <a:gsLst>
                <a:gs pos="0">
                  <a:srgbClr val="000102">
                    <a:alpha val="63000"/>
                  </a:srgbClr>
                </a:gs>
                <a:gs pos="100000">
                  <a:srgbClr val="000000">
                    <a:alpha val="590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92FEFE">
                      <a:alpha val="100000"/>
                    </a:srgbClr>
                  </a:gs>
                  <a:gs pos="100000">
                    <a:srgbClr val="3894BB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961267" cy="12413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988442" y="4227266"/>
            <a:ext cx="639681" cy="639681"/>
          </a:xfrm>
          <a:custGeom>
            <a:avLst/>
            <a:gdLst/>
            <a:ahLst/>
            <a:cxnLst/>
            <a:rect r="r" b="b" t="t" l="l"/>
            <a:pathLst>
              <a:path h="639681" w="639681">
                <a:moveTo>
                  <a:pt x="0" y="0"/>
                </a:moveTo>
                <a:lnTo>
                  <a:pt x="639681" y="0"/>
                </a:lnTo>
                <a:lnTo>
                  <a:pt x="639681" y="639682"/>
                </a:lnTo>
                <a:lnTo>
                  <a:pt x="0" y="639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93002" y="5586404"/>
            <a:ext cx="687633" cy="542016"/>
          </a:xfrm>
          <a:custGeom>
            <a:avLst/>
            <a:gdLst/>
            <a:ahLst/>
            <a:cxnLst/>
            <a:rect r="r" b="b" t="t" l="l"/>
            <a:pathLst>
              <a:path h="542016" w="687633">
                <a:moveTo>
                  <a:pt x="0" y="0"/>
                </a:moveTo>
                <a:lnTo>
                  <a:pt x="687633" y="0"/>
                </a:lnTo>
                <a:lnTo>
                  <a:pt x="687633" y="542017"/>
                </a:lnTo>
                <a:lnTo>
                  <a:pt x="0" y="542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81936" y="3958554"/>
            <a:ext cx="4492144" cy="977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70"/>
              </a:lnSpc>
              <a:spcBef>
                <a:spcPct val="0"/>
              </a:spcBef>
            </a:pPr>
            <a:r>
              <a:rPr lang="en-US" sz="2407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Ningún algoritmo resuelve completamente el entorno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79721" y="1513729"/>
            <a:ext cx="8907500" cy="1315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38"/>
              </a:lnSpc>
              <a:spcBef>
                <a:spcPct val="0"/>
              </a:spcBef>
            </a:pPr>
            <a:r>
              <a:rPr lang="en-US" sz="5598">
                <a:solidFill>
                  <a:srgbClr val="8FE3FD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Resultado importante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18706" y="5570440"/>
            <a:ext cx="5314764" cy="55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70"/>
              </a:lnSpc>
              <a:spcBef>
                <a:spcPct val="0"/>
              </a:spcBef>
            </a:pPr>
            <a:r>
              <a:rPr lang="en-US" sz="2407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Esto es un resultado relevante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858697" y="2882444"/>
            <a:ext cx="8205491" cy="5467224"/>
          </a:xfrm>
          <a:prstGeom prst="rect">
            <a:avLst/>
          </a:prstGeom>
        </p:spPr>
      </p:pic>
      <p:sp>
        <p:nvSpPr>
          <p:cNvPr name="Freeform 11" id="11"/>
          <p:cNvSpPr/>
          <p:nvPr/>
        </p:nvSpPr>
        <p:spPr>
          <a:xfrm flipH="false" flipV="false" rot="-10800000">
            <a:off x="13900929" y="8607855"/>
            <a:ext cx="4505639" cy="4276261"/>
          </a:xfrm>
          <a:custGeom>
            <a:avLst/>
            <a:gdLst/>
            <a:ahLst/>
            <a:cxnLst/>
            <a:rect r="r" b="b" t="t" l="l"/>
            <a:pathLst>
              <a:path h="4276261" w="4505639">
                <a:moveTo>
                  <a:pt x="0" y="0"/>
                </a:moveTo>
                <a:lnTo>
                  <a:pt x="4505639" y="0"/>
                </a:lnTo>
                <a:lnTo>
                  <a:pt x="4505639" y="4276262"/>
                </a:lnTo>
                <a:lnTo>
                  <a:pt x="0" y="42762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14805717" y="7692129"/>
            <a:ext cx="4505639" cy="4276261"/>
          </a:xfrm>
          <a:custGeom>
            <a:avLst/>
            <a:gdLst/>
            <a:ahLst/>
            <a:cxnLst/>
            <a:rect r="r" b="b" t="t" l="l"/>
            <a:pathLst>
              <a:path h="4276261" w="4505639">
                <a:moveTo>
                  <a:pt x="0" y="0"/>
                </a:moveTo>
                <a:lnTo>
                  <a:pt x="4505639" y="0"/>
                </a:lnTo>
                <a:lnTo>
                  <a:pt x="4505639" y="4276261"/>
                </a:lnTo>
                <a:lnTo>
                  <a:pt x="0" y="42762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0630869" y="8877168"/>
            <a:ext cx="4505639" cy="4276261"/>
          </a:xfrm>
          <a:custGeom>
            <a:avLst/>
            <a:gdLst/>
            <a:ahLst/>
            <a:cxnLst/>
            <a:rect r="r" b="b" t="t" l="l"/>
            <a:pathLst>
              <a:path h="4276261" w="4505639">
                <a:moveTo>
                  <a:pt x="0" y="0"/>
                </a:moveTo>
                <a:lnTo>
                  <a:pt x="4505640" y="0"/>
                </a:lnTo>
                <a:lnTo>
                  <a:pt x="4505640" y="4276261"/>
                </a:lnTo>
                <a:lnTo>
                  <a:pt x="0" y="42762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7518164" y="8607855"/>
            <a:ext cx="4505639" cy="4276261"/>
          </a:xfrm>
          <a:custGeom>
            <a:avLst/>
            <a:gdLst/>
            <a:ahLst/>
            <a:cxnLst/>
            <a:rect r="r" b="b" t="t" l="l"/>
            <a:pathLst>
              <a:path h="4276261" w="4505639">
                <a:moveTo>
                  <a:pt x="0" y="0"/>
                </a:moveTo>
                <a:lnTo>
                  <a:pt x="4505640" y="0"/>
                </a:lnTo>
                <a:lnTo>
                  <a:pt x="4505640" y="4276262"/>
                </a:lnTo>
                <a:lnTo>
                  <a:pt x="0" y="42762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4076035" y="7844529"/>
            <a:ext cx="4505639" cy="4276261"/>
          </a:xfrm>
          <a:custGeom>
            <a:avLst/>
            <a:gdLst/>
            <a:ahLst/>
            <a:cxnLst/>
            <a:rect r="r" b="b" t="t" l="l"/>
            <a:pathLst>
              <a:path h="4276261" w="4505639">
                <a:moveTo>
                  <a:pt x="0" y="0"/>
                </a:moveTo>
                <a:lnTo>
                  <a:pt x="4505640" y="0"/>
                </a:lnTo>
                <a:lnTo>
                  <a:pt x="4505640" y="4276261"/>
                </a:lnTo>
                <a:lnTo>
                  <a:pt x="0" y="42762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6822457">
            <a:off x="-2435667" y="6530078"/>
            <a:ext cx="4505639" cy="4276261"/>
          </a:xfrm>
          <a:custGeom>
            <a:avLst/>
            <a:gdLst/>
            <a:ahLst/>
            <a:cxnLst/>
            <a:rect r="r" b="b" t="t" l="l"/>
            <a:pathLst>
              <a:path h="4276261" w="4505639">
                <a:moveTo>
                  <a:pt x="0" y="0"/>
                </a:moveTo>
                <a:lnTo>
                  <a:pt x="4505639" y="0"/>
                </a:lnTo>
                <a:lnTo>
                  <a:pt x="4505639" y="4276262"/>
                </a:lnTo>
                <a:lnTo>
                  <a:pt x="0" y="42762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0800000">
            <a:off x="427815" y="9071646"/>
            <a:ext cx="4505639" cy="4276261"/>
          </a:xfrm>
          <a:custGeom>
            <a:avLst/>
            <a:gdLst/>
            <a:ahLst/>
            <a:cxnLst/>
            <a:rect r="r" b="b" t="t" l="l"/>
            <a:pathLst>
              <a:path h="4276261" w="4505639">
                <a:moveTo>
                  <a:pt x="0" y="0"/>
                </a:moveTo>
                <a:lnTo>
                  <a:pt x="4505639" y="0"/>
                </a:lnTo>
                <a:lnTo>
                  <a:pt x="4505639" y="4276261"/>
                </a:lnTo>
                <a:lnTo>
                  <a:pt x="0" y="42762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3205" y="2980585"/>
            <a:ext cx="8586048" cy="1351524"/>
            <a:chOff x="0" y="0"/>
            <a:chExt cx="2045759" cy="3220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45759" cy="322022"/>
            </a:xfrm>
            <a:custGeom>
              <a:avLst/>
              <a:gdLst/>
              <a:ahLst/>
              <a:cxnLst/>
              <a:rect r="r" b="b" t="t" l="l"/>
              <a:pathLst>
                <a:path h="322022" w="2045759">
                  <a:moveTo>
                    <a:pt x="1842559" y="0"/>
                  </a:moveTo>
                  <a:cubicBezTo>
                    <a:pt x="1954783" y="0"/>
                    <a:pt x="2045759" y="72087"/>
                    <a:pt x="2045759" y="161011"/>
                  </a:cubicBezTo>
                  <a:cubicBezTo>
                    <a:pt x="2045759" y="249935"/>
                    <a:pt x="1954783" y="322022"/>
                    <a:pt x="1842559" y="322022"/>
                  </a:cubicBezTo>
                  <a:lnTo>
                    <a:pt x="203200" y="322022"/>
                  </a:lnTo>
                  <a:cubicBezTo>
                    <a:pt x="90976" y="322022"/>
                    <a:pt x="0" y="249935"/>
                    <a:pt x="0" y="161011"/>
                  </a:cubicBezTo>
                  <a:cubicBezTo>
                    <a:pt x="0" y="72087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45759" cy="369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03205" y="5176974"/>
            <a:ext cx="8586048" cy="1351524"/>
            <a:chOff x="0" y="0"/>
            <a:chExt cx="2045759" cy="3220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45759" cy="322022"/>
            </a:xfrm>
            <a:custGeom>
              <a:avLst/>
              <a:gdLst/>
              <a:ahLst/>
              <a:cxnLst/>
              <a:rect r="r" b="b" t="t" l="l"/>
              <a:pathLst>
                <a:path h="322022" w="2045759">
                  <a:moveTo>
                    <a:pt x="1842559" y="0"/>
                  </a:moveTo>
                  <a:cubicBezTo>
                    <a:pt x="1954783" y="0"/>
                    <a:pt x="2045759" y="72087"/>
                    <a:pt x="2045759" y="161011"/>
                  </a:cubicBezTo>
                  <a:cubicBezTo>
                    <a:pt x="2045759" y="249935"/>
                    <a:pt x="1954783" y="322022"/>
                    <a:pt x="1842559" y="322022"/>
                  </a:cubicBezTo>
                  <a:lnTo>
                    <a:pt x="203200" y="322022"/>
                  </a:lnTo>
                  <a:cubicBezTo>
                    <a:pt x="90976" y="322022"/>
                    <a:pt x="0" y="249935"/>
                    <a:pt x="0" y="161011"/>
                  </a:cubicBezTo>
                  <a:cubicBezTo>
                    <a:pt x="0" y="72087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045759" cy="369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03205" y="7339889"/>
            <a:ext cx="8586048" cy="1351524"/>
            <a:chOff x="0" y="0"/>
            <a:chExt cx="2045759" cy="3220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5759" cy="322022"/>
            </a:xfrm>
            <a:custGeom>
              <a:avLst/>
              <a:gdLst/>
              <a:ahLst/>
              <a:cxnLst/>
              <a:rect r="r" b="b" t="t" l="l"/>
              <a:pathLst>
                <a:path h="322022" w="2045759">
                  <a:moveTo>
                    <a:pt x="1842559" y="0"/>
                  </a:moveTo>
                  <a:cubicBezTo>
                    <a:pt x="1954783" y="0"/>
                    <a:pt x="2045759" y="72087"/>
                    <a:pt x="2045759" y="161011"/>
                  </a:cubicBezTo>
                  <a:cubicBezTo>
                    <a:pt x="2045759" y="249935"/>
                    <a:pt x="1954783" y="322022"/>
                    <a:pt x="1842559" y="322022"/>
                  </a:cubicBezTo>
                  <a:lnTo>
                    <a:pt x="203200" y="322022"/>
                  </a:lnTo>
                  <a:cubicBezTo>
                    <a:pt x="90976" y="322022"/>
                    <a:pt x="0" y="249935"/>
                    <a:pt x="0" y="161011"/>
                  </a:cubicBezTo>
                  <a:cubicBezTo>
                    <a:pt x="0" y="72087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3FFFF">
                    <a:alpha val="100000"/>
                  </a:srgbClr>
                </a:gs>
                <a:gs pos="100000">
                  <a:srgbClr val="3995BC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045759" cy="369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1386163">
            <a:off x="9639928" y="852187"/>
            <a:ext cx="1688589" cy="1688589"/>
          </a:xfrm>
          <a:custGeom>
            <a:avLst/>
            <a:gdLst/>
            <a:ahLst/>
            <a:cxnLst/>
            <a:rect r="r" b="b" t="t" l="l"/>
            <a:pathLst>
              <a:path h="1688589" w="1688589">
                <a:moveTo>
                  <a:pt x="0" y="0"/>
                </a:moveTo>
                <a:lnTo>
                  <a:pt x="1688589" y="0"/>
                </a:lnTo>
                <a:lnTo>
                  <a:pt x="1688589" y="1688589"/>
                </a:lnTo>
                <a:lnTo>
                  <a:pt x="0" y="16885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524780" y="3441539"/>
            <a:ext cx="3470869" cy="3470869"/>
          </a:xfrm>
          <a:custGeom>
            <a:avLst/>
            <a:gdLst/>
            <a:ahLst/>
            <a:cxnLst/>
            <a:rect r="r" b="b" t="t" l="l"/>
            <a:pathLst>
              <a:path h="3470869" w="3470869">
                <a:moveTo>
                  <a:pt x="0" y="0"/>
                </a:moveTo>
                <a:lnTo>
                  <a:pt x="3470869" y="0"/>
                </a:lnTo>
                <a:lnTo>
                  <a:pt x="3470869" y="3470869"/>
                </a:lnTo>
                <a:lnTo>
                  <a:pt x="0" y="34708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989219">
            <a:off x="9690861" y="8081201"/>
            <a:ext cx="1637666" cy="1637666"/>
          </a:xfrm>
          <a:custGeom>
            <a:avLst/>
            <a:gdLst/>
            <a:ahLst/>
            <a:cxnLst/>
            <a:rect r="r" b="b" t="t" l="l"/>
            <a:pathLst>
              <a:path h="1637666" w="1637666">
                <a:moveTo>
                  <a:pt x="0" y="0"/>
                </a:moveTo>
                <a:lnTo>
                  <a:pt x="1637666" y="0"/>
                </a:lnTo>
                <a:lnTo>
                  <a:pt x="1637666" y="1637666"/>
                </a:lnTo>
                <a:lnTo>
                  <a:pt x="0" y="16376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36266" y="725788"/>
            <a:ext cx="7146131" cy="1436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79"/>
              </a:lnSpc>
              <a:spcBef>
                <a:spcPct val="0"/>
              </a:spcBef>
            </a:pPr>
            <a:r>
              <a:rPr lang="en-US" sz="6128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Conclusiones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39407" y="3492125"/>
            <a:ext cx="6236867" cy="335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80"/>
              </a:lnSpc>
            </a:pPr>
            <a:r>
              <a:rPr lang="en-US" b="true" sz="2133" spc="68">
                <a:solidFill>
                  <a:srgbClr val="0A1944"/>
                </a:solidFill>
                <a:latin typeface="Saira Medium"/>
                <a:ea typeface="Saira Medium"/>
                <a:cs typeface="Saira Medium"/>
                <a:sym typeface="Saira Medium"/>
              </a:rPr>
              <a:t>La observación es un factor crítico en RL.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5917" y="2809135"/>
            <a:ext cx="585951" cy="1548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660"/>
              </a:lnSpc>
              <a:spcBef>
                <a:spcPct val="0"/>
              </a:spcBef>
            </a:pPr>
            <a:r>
              <a:rPr lang="en-US" b="true" sz="9043">
                <a:solidFill>
                  <a:srgbClr val="0A1944"/>
                </a:solidFill>
                <a:latin typeface="Saira Bold"/>
                <a:ea typeface="Saira Bold"/>
                <a:cs typeface="Saira Bold"/>
                <a:sym typeface="Saira Bold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39407" y="5677011"/>
            <a:ext cx="6236867" cy="335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80"/>
              </a:lnSpc>
            </a:pPr>
            <a:r>
              <a:rPr lang="en-US" b="true" sz="2133" spc="68">
                <a:solidFill>
                  <a:srgbClr val="0A1944"/>
                </a:solidFill>
                <a:latin typeface="Saira Medium"/>
                <a:ea typeface="Saira Medium"/>
                <a:cs typeface="Saira Medium"/>
                <a:sym typeface="Saira Medium"/>
              </a:rPr>
              <a:t>Más información ≠ mejor aprendizaje.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5917" y="5005524"/>
            <a:ext cx="585951" cy="1548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660"/>
              </a:lnSpc>
              <a:spcBef>
                <a:spcPct val="0"/>
              </a:spcBef>
            </a:pPr>
            <a:r>
              <a:rPr lang="en-US" b="true" sz="9043">
                <a:solidFill>
                  <a:srgbClr val="0A1944"/>
                </a:solidFill>
                <a:latin typeface="Saira Bold"/>
                <a:ea typeface="Saira Bold"/>
                <a:cs typeface="Saira Bold"/>
                <a:sym typeface="Saira Bold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39407" y="7673079"/>
            <a:ext cx="6236867" cy="69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80"/>
              </a:lnSpc>
            </a:pPr>
            <a:r>
              <a:rPr lang="en-US" b="true" sz="2133" spc="68">
                <a:solidFill>
                  <a:srgbClr val="0A1944"/>
                </a:solidFill>
                <a:latin typeface="Saira Medium"/>
                <a:ea typeface="Saira Medium"/>
                <a:cs typeface="Saira Medium"/>
                <a:sym typeface="Saira Medium"/>
              </a:rPr>
              <a:t>El diseño del estado debe equilibrar simplicidad y expresividad.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5917" y="7168439"/>
            <a:ext cx="585951" cy="1548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660"/>
              </a:lnSpc>
              <a:spcBef>
                <a:spcPct val="0"/>
              </a:spcBef>
            </a:pPr>
            <a:r>
              <a:rPr lang="en-US" b="true" sz="9043">
                <a:solidFill>
                  <a:srgbClr val="0A1944"/>
                </a:solidFill>
                <a:latin typeface="Saira Bold"/>
                <a:ea typeface="Saira Bold"/>
                <a:cs typeface="Saira Bold"/>
                <a:sym typeface="Saira Bold"/>
              </a:rPr>
              <a:t>3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-10800000">
            <a:off x="14805717" y="7692129"/>
            <a:ext cx="4505639" cy="4276261"/>
          </a:xfrm>
          <a:custGeom>
            <a:avLst/>
            <a:gdLst/>
            <a:ahLst/>
            <a:cxnLst/>
            <a:rect r="r" b="b" t="t" l="l"/>
            <a:pathLst>
              <a:path h="4276261" w="4505639">
                <a:moveTo>
                  <a:pt x="0" y="0"/>
                </a:moveTo>
                <a:lnTo>
                  <a:pt x="4505639" y="0"/>
                </a:lnTo>
                <a:lnTo>
                  <a:pt x="4505639" y="4276261"/>
                </a:lnTo>
                <a:lnTo>
                  <a:pt x="0" y="42762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5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428756" y="-1471910"/>
            <a:ext cx="4505639" cy="4276261"/>
          </a:xfrm>
          <a:custGeom>
            <a:avLst/>
            <a:gdLst/>
            <a:ahLst/>
            <a:cxnLst/>
            <a:rect r="r" b="b" t="t" l="l"/>
            <a:pathLst>
              <a:path h="4276261" w="4505639">
                <a:moveTo>
                  <a:pt x="0" y="0"/>
                </a:moveTo>
                <a:lnTo>
                  <a:pt x="4505639" y="0"/>
                </a:lnTo>
                <a:lnTo>
                  <a:pt x="4505639" y="4276261"/>
                </a:lnTo>
                <a:lnTo>
                  <a:pt x="0" y="42762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5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DAG9Ko6Y1mA</dc:identifier>
  <dcterms:modified xsi:type="dcterms:W3CDTF">2011-08-01T06:04:30Z</dcterms:modified>
  <cp:revision>1</cp:revision>
  <dc:title>Impacto de la complejidad de las observaciones en el rendimiento de algoritmos de Aprendizaje por Refuerzo en un entorno Pacman</dc:title>
</cp:coreProperties>
</file>